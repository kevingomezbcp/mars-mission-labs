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1A0CB7-68DC-91B5-5772-320A2192D8DF}" name="Paul Schmitt Vega" initials="" userId="S::paulschmitt@bcp.com.pe::062c1f0f-d73f-41fd-bf6a-85906dcf0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95"/>
    <p:restoredTop sz="88497" autoAdjust="0"/>
  </p:normalViewPr>
  <p:slideViewPr>
    <p:cSldViewPr snapToGrid="0">
      <p:cViewPr>
        <p:scale>
          <a:sx n="75" d="100"/>
          <a:sy n="75" d="100"/>
        </p:scale>
        <p:origin x="1267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410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F2EF7-5AEE-7648-9022-ED6E53D01B23}" type="datetimeFigureOut">
              <a:rPr lang="es-PE" smtClean="0"/>
              <a:t>26/08/2026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D005F-A431-3141-89A8-5152D3DB0E9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219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D005F-A431-3141-89A8-5152D3DB0E9B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869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ATULA-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540000"/>
            <a:ext cx="9144000" cy="149579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_tradnl" noProof="0"/>
              <a:t>Título</a:t>
            </a:r>
            <a:br>
              <a:rPr lang="es-ES_tradnl" noProof="0"/>
            </a:br>
            <a:r>
              <a:rPr lang="es-ES_tradnl" noProof="0"/>
              <a:t>Principal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2035794"/>
            <a:ext cx="914400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noProof="0"/>
              <a:t>Subtítulo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8D139A-93C3-DDFF-F294-954A70520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9005" y="5094475"/>
            <a:ext cx="11413989" cy="136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ATULA-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9B085F-4A05-7F88-A8DD-2C0B44869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19725" y="2836079"/>
            <a:ext cx="8949464" cy="7478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s-ES_tradnl" noProof="0" dirty="0"/>
              <a:t>Título Principal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19725" y="3618742"/>
            <a:ext cx="8949464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noProof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8476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rgbClr val="FFB90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F284EA6-4BFA-3B41-FD05-23D93F7B0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15625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3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ABD7A-A683-62B2-7828-A6CB69D292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0992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-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799" y="865821"/>
            <a:ext cx="9394937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n-US" dirty="0"/>
              <a:t>N°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76F6-55AA-F898-15DD-D2812BD983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1434" y="1907025"/>
            <a:ext cx="9394936" cy="117570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80000"/>
              </a:lnSpc>
              <a:buNone/>
              <a:defRPr sz="8800" b="0" i="0">
                <a:solidFill>
                  <a:schemeClr val="bg1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03067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BLANCO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1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BLANCO-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2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1080000"/>
            <a:ext cx="5679139" cy="99719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36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br>
              <a:rPr lang="es-MX" dirty="0"/>
            </a:br>
            <a:r>
              <a:rPr lang="es-MX" dirty="0"/>
              <a:t>Principal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2358963"/>
            <a:ext cx="567913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15829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BA3CCB-79E1-29D4-4D57-4D9A256D9F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43099"/>
            <a:ext cx="1132408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B6DF01C-80D2-E3F6-AF08-74D8FCA6FF99}"/>
              </a:ext>
            </a:extLst>
          </p:cNvPr>
          <p:cNvCxnSpPr>
            <a:cxnSpLocks/>
          </p:cNvCxnSpPr>
          <p:nvPr userDrawn="1"/>
        </p:nvCxnSpPr>
        <p:spPr>
          <a:xfrm>
            <a:off x="359999" y="955505"/>
            <a:ext cx="11340000" cy="0"/>
          </a:xfrm>
          <a:prstGeom prst="line">
            <a:avLst/>
          </a:prstGeom>
          <a:ln>
            <a:solidFill>
              <a:srgbClr val="C3338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CC0656-6234-2908-F914-6274734817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440000"/>
            <a:ext cx="1133999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85397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C03765A-0B8D-AB7F-691F-1E54E1C249C5}"/>
              </a:ext>
            </a:extLst>
          </p:cNvPr>
          <p:cNvCxnSpPr>
            <a:cxnSpLocks/>
          </p:cNvCxnSpPr>
          <p:nvPr userDrawn="1"/>
        </p:nvCxnSpPr>
        <p:spPr>
          <a:xfrm>
            <a:off x="359999" y="955505"/>
            <a:ext cx="11340000" cy="0"/>
          </a:xfrm>
          <a:prstGeom prst="line">
            <a:avLst/>
          </a:prstGeom>
          <a:ln>
            <a:solidFill>
              <a:srgbClr val="C3338E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D717897-C9D5-645D-1D06-2C87C8CFC2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443099"/>
            <a:ext cx="1132408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MX" dirty="0"/>
              <a:t>Título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A7A7C64-3356-D972-6C90-529606E2D9A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440000"/>
            <a:ext cx="11339999" cy="24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5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1684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9673" y="1225047"/>
            <a:ext cx="7389221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9673" y="1757141"/>
            <a:ext cx="7389221" cy="385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677F8-3620-3EC4-0FA3-A3D2CF5BA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1080000"/>
            <a:ext cx="659673" cy="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17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720000"/>
            <a:ext cx="4788943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005A-008D-2D59-7E15-9FACAA929B8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20869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96633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720000"/>
            <a:ext cx="4788943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005A-008D-2D59-7E15-9FACAA929B8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220869" y="1620000"/>
            <a:ext cx="4788943" cy="2894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164298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-0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9673" y="1225047"/>
            <a:ext cx="7389221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3200" b="1" i="0">
                <a:latin typeface="Inter Tight" pitchFamily="2" charset="0"/>
                <a:ea typeface="Inter Tight" pitchFamily="2" charset="0"/>
                <a:cs typeface="Inter Tight" pitchFamily="2" charset="0"/>
              </a:defRPr>
            </a:lvl1pPr>
          </a:lstStyle>
          <a:p>
            <a:r>
              <a:rPr lang="es-ES_tradnl" noProof="0"/>
              <a:t>Título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1BC0693-358B-CC34-356E-A17F67AC01F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19673" y="1757141"/>
            <a:ext cx="7389221" cy="3859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 noProof="0" dirty="0"/>
              <a:t>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4677F8-3620-3EC4-0FA3-A3D2CF5BA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1080000"/>
            <a:ext cx="659673" cy="6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58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92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45987FA-CDF8-DB93-C529-0E9E59F0C2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05413" y="6672580"/>
            <a:ext cx="1803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8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Datos elaborados por BCP para uso Interno</a:t>
            </a:r>
          </a:p>
        </p:txBody>
      </p:sp>
      <p:sp>
        <p:nvSpPr>
          <p:cNvPr id="20" name="Marcador de título 19">
            <a:extLst>
              <a:ext uri="{FF2B5EF4-FFF2-40B4-BE49-F238E27FC236}">
                <a16:creationId xmlns:a16="http://schemas.microsoft.com/office/drawing/2014/main" id="{924A4A65-4B56-E533-F2C1-C4756DAA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144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8561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0" r:id="rId2"/>
    <p:sldLayoutId id="2147483714" r:id="rId3"/>
    <p:sldLayoutId id="2147483715" r:id="rId4"/>
    <p:sldLayoutId id="2147483716" r:id="rId5"/>
    <p:sldLayoutId id="2147483698" r:id="rId6"/>
    <p:sldLayoutId id="2147483712" r:id="rId7"/>
    <p:sldLayoutId id="2147483711" r:id="rId8"/>
    <p:sldLayoutId id="2147483708" r:id="rId9"/>
    <p:sldLayoutId id="2147483713" r:id="rId10"/>
    <p:sldLayoutId id="2147483710" r:id="rId11"/>
    <p:sldLayoutId id="2147483717" r:id="rId12"/>
    <p:sldLayoutId id="2147483718" r:id="rId13"/>
    <p:sldLayoutId id="2147483719" r:id="rId14"/>
    <p:sldLayoutId id="214748372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ln>
            <a:noFill/>
          </a:ln>
          <a:solidFill>
            <a:schemeClr val="accent1"/>
          </a:solidFill>
          <a:latin typeface="Inter Tight" pitchFamily="2" charset="0"/>
          <a:ea typeface="Inter Tight" pitchFamily="2" charset="0"/>
          <a:cs typeface="Inter Tight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nter Tight Black"/>
              </a:rPr>
              <a:t>RAG + Agent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  <a:latin typeface="Inter Tight"/>
              </a:rPr>
              <a:t>Generación Aumentada por Recuperación con Azure AI y Microsoft Agent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14431"/>
            <a:ext cx="10515600" cy="1325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3338E"/>
                </a:solidFill>
                <a:latin typeface="Inter Tight Black"/>
              </a:rPr>
              <a:t>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93348" y="2047937"/>
          <a:ext cx="9405305" cy="437750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5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3532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C3338E"/>
                          </a:solidFill>
                          <a:latin typeface="Inter Tight"/>
                        </a:rPr>
                        <a:t>01</a:t>
                      </a:r>
                    </a:p>
                  </a:txBody>
                  <a:tcPr marL="141446" marR="141446" marT="141446" marB="141446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El </a:t>
                      </a:r>
                      <a:r>
                        <a:rPr sz="2200" b="0" dirty="0" err="1">
                          <a:solidFill>
                            <a:srgbClr val="333333"/>
                          </a:solidFill>
                          <a:latin typeface="Inter Tight"/>
                        </a:rPr>
                        <a:t>Problema</a:t>
                      </a:r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 y la </a:t>
                      </a:r>
                      <a:r>
                        <a:rPr sz="2200" b="0" dirty="0" err="1">
                          <a:solidFill>
                            <a:srgbClr val="333333"/>
                          </a:solidFill>
                          <a:latin typeface="Inter Tight"/>
                        </a:rPr>
                        <a:t>Solución</a:t>
                      </a:r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: ¿</a:t>
                      </a:r>
                      <a:r>
                        <a:rPr sz="2200" b="0" dirty="0" err="1">
                          <a:solidFill>
                            <a:srgbClr val="333333"/>
                          </a:solidFill>
                          <a:latin typeface="Inter Tight"/>
                        </a:rPr>
                        <a:t>Qué</a:t>
                      </a:r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 es y </a:t>
                      </a:r>
                      <a:r>
                        <a:rPr sz="2200" b="0" dirty="0" err="1">
                          <a:solidFill>
                            <a:srgbClr val="333333"/>
                          </a:solidFill>
                          <a:latin typeface="Inter Tight"/>
                        </a:rPr>
                        <a:t>qué</a:t>
                      </a:r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333333"/>
                          </a:solidFill>
                          <a:latin typeface="Inter Tight"/>
                        </a:rPr>
                        <a:t>resuelve</a:t>
                      </a:r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 RAG?</a:t>
                      </a:r>
                    </a:p>
                  </a:txBody>
                  <a:tcPr marL="141446" marR="141446" marT="141446" marB="1414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C3338E"/>
                          </a:solidFill>
                          <a:latin typeface="Inter Tight"/>
                        </a:rPr>
                        <a:t>02</a:t>
                      </a:r>
                    </a:p>
                  </a:txBody>
                  <a:tcPr marL="141446" marR="141446" marT="141446" marB="141446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333333"/>
                          </a:solidFill>
                          <a:latin typeface="Inter Tight"/>
                        </a:rPr>
                        <a:t>Los Componentes Clave &amp; Fundamento Matemático Bayesiano</a:t>
                      </a:r>
                    </a:p>
                  </a:txBody>
                  <a:tcPr marL="141446" marR="141446" marT="141446" marB="1414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C3338E"/>
                          </a:solidFill>
                          <a:latin typeface="Inter Tight"/>
                        </a:rPr>
                        <a:t>03</a:t>
                      </a:r>
                    </a:p>
                  </a:txBody>
                  <a:tcPr marL="141446" marR="141446" marT="141446" marB="141446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333333"/>
                          </a:solidFill>
                          <a:latin typeface="Inter Tight"/>
                        </a:rPr>
                        <a:t>Técnicas de Precisión: Búsqueda Híbrida y Semantic Reranker</a:t>
                      </a:r>
                    </a:p>
                  </a:txBody>
                  <a:tcPr marL="141446" marR="141446" marT="141446" marB="1414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C3338E"/>
                          </a:solidFill>
                          <a:latin typeface="Inter Tight"/>
                        </a:rPr>
                        <a:t>04</a:t>
                      </a:r>
                    </a:p>
                  </a:txBody>
                  <a:tcPr marL="141446" marR="141446" marT="141446" marB="141446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333333"/>
                          </a:solidFill>
                          <a:latin typeface="Inter Tight"/>
                        </a:rPr>
                        <a:t>RAG Agéntico: Integración con Microsoft Agent Framework en Azure</a:t>
                      </a:r>
                    </a:p>
                  </a:txBody>
                  <a:tcPr marL="141446" marR="141446" marT="141446" marB="1414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532">
                <a:tc>
                  <a:txBody>
                    <a:bodyPr/>
                    <a:lstStyle/>
                    <a:p>
                      <a:r>
                        <a:rPr sz="3300" b="1">
                          <a:solidFill>
                            <a:srgbClr val="C3338E"/>
                          </a:solidFill>
                          <a:latin typeface="Inter Tight"/>
                        </a:rPr>
                        <a:t>05</a:t>
                      </a:r>
                    </a:p>
                  </a:txBody>
                  <a:tcPr marL="141446" marR="141446" marT="141446" marB="141446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Demo </a:t>
                      </a:r>
                      <a:r>
                        <a:rPr sz="2200" b="0" dirty="0" err="1">
                          <a:solidFill>
                            <a:srgbClr val="333333"/>
                          </a:solidFill>
                          <a:latin typeface="Inter Tight"/>
                        </a:rPr>
                        <a:t>en</a:t>
                      </a:r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 Vivo: </a:t>
                      </a:r>
                      <a:r>
                        <a:rPr sz="2200" b="0" dirty="0" err="1">
                          <a:solidFill>
                            <a:srgbClr val="333333"/>
                          </a:solidFill>
                          <a:latin typeface="Inter Tight"/>
                        </a:rPr>
                        <a:t>Explorando</a:t>
                      </a:r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 el </a:t>
                      </a:r>
                      <a:r>
                        <a:rPr sz="2200" b="0" dirty="0" err="1">
                          <a:solidFill>
                            <a:srgbClr val="333333"/>
                          </a:solidFill>
                          <a:latin typeface="Inter Tight"/>
                        </a:rPr>
                        <a:t>cráter</a:t>
                      </a:r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 Jezero con </a:t>
                      </a:r>
                      <a:r>
                        <a:rPr sz="2200" b="0" dirty="0" err="1">
                          <a:solidFill>
                            <a:srgbClr val="333333"/>
                          </a:solidFill>
                          <a:latin typeface="Inter Tight"/>
                        </a:rPr>
                        <a:t>documentos</a:t>
                      </a:r>
                      <a:r>
                        <a:rPr sz="2200" b="0" dirty="0">
                          <a:solidFill>
                            <a:srgbClr val="333333"/>
                          </a:solidFill>
                          <a:latin typeface="Inter Tight"/>
                        </a:rPr>
                        <a:t> de la NASA</a:t>
                      </a:r>
                    </a:p>
                  </a:txBody>
                  <a:tcPr marL="141446" marR="141446" marT="141446" marB="14144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El Desafío de los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3338E"/>
                </a:solidFill>
                <a:latin typeface="Inter Tight Black"/>
              </a:rPr>
              <a:t>Límites de los Modelos de Lenguaje Aislados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9" y="1800000"/>
            <a:ext cx="5650000" cy="47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Corte de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Conocimiento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(Knowledge Cutoff):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Los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modelos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solo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saben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lo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que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aprendieron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durante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su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entrenamiento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 No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conocen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tus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datos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hoy.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Alucinaciones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Cuando un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modelo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no sabe la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respuesta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,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tiende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inventar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datos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con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absoluta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seguridad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sintáctica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Falta de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Trazabilidad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No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pueden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citar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la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página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, el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memorándum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o el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documento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oficial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donde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extrajeron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el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dato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Costo y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Lentitud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de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Reentrenar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Hacer fine-tuning o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reentrenar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continuamente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es inviable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técnica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y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económicamente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para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datos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vivos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00000" y="1305147"/>
            <a:ext cx="5650000" cy="4750000"/>
          </a:xfrm>
          <a:prstGeom prst="roundRect">
            <a:avLst/>
          </a:prstGeom>
          <a:solidFill>
            <a:srgbClr val="F6F7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20000" rIns="250000" bIns="22000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endParaRPr sz="1100" dirty="0">
              <a:solidFill>
                <a:srgbClr val="555555"/>
              </a:solidFill>
              <a:latin typeface="Inter Tigh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01D4276-99FC-3C63-9A13-6CEFA5C01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220" y="1764062"/>
            <a:ext cx="5109559" cy="38321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Fundamentos de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3338E"/>
                </a:solidFill>
                <a:latin typeface="Inter Tight Black"/>
              </a:rPr>
              <a:t>Retrieval-Augmented Generation (Generación Aumentada por Recuperación)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1864" y="1800000"/>
            <a:ext cx="4908136" cy="301364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La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Analogía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del Examen: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Un examen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tradicional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memoria vs. un examen 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libro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abierto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con un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índice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perfecto.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¿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Cómo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funciona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el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flujo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RAG?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1. Retrieval: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Recupera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fragmentos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relevantes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la base documental.
2. Augmentation: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Inyecta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los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fragmentos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como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contexto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el prompt.
3. Generation: El LLM genera la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respuesta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citando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fuentes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Beneficios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Inmediatos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Grounding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garantizado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,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citas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trazables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,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actualización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instantánea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documentos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y cero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reentrenamiento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9998" y="1800000"/>
            <a:ext cx="6169893" cy="4750000"/>
          </a:xfrm>
          <a:prstGeom prst="roundRect">
            <a:avLst/>
          </a:prstGeom>
          <a:solidFill>
            <a:srgbClr val="F6F7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20000" rIns="250000" bIns="22000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endParaRPr sz="1100" dirty="0">
              <a:solidFill>
                <a:srgbClr val="555555"/>
              </a:solidFill>
              <a:latin typeface="Inter Tigh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38C154-EE8B-0E52-AE0E-84C049FCA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35" y="2412298"/>
            <a:ext cx="6020418" cy="35254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Arquitectura del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3338E"/>
                </a:solidFill>
                <a:latin typeface="Inter Tight Black"/>
              </a:rPr>
              <a:t>De Documentos Crudos a Respuestas con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9" y="1800000"/>
            <a:ext cx="5650000" cy="47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1. Chunking (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Fragmentación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):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División de PDFs largos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fragmentos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500-1000 tokens con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solapamiento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(overlap) para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preservar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el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contexto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2. Embeddings (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Vectorización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):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 err="1">
                <a:solidFill>
                  <a:srgbClr val="333333"/>
                </a:solidFill>
                <a:latin typeface="Inter Tight"/>
              </a:rPr>
              <a:t>Transformación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texto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vectores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numéricos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1536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dimensiones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que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capturan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la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semántica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3. Vector Store &amp; Search Index: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 err="1">
                <a:solidFill>
                  <a:srgbClr val="333333"/>
                </a:solidFill>
                <a:latin typeface="Inter Tight"/>
              </a:rPr>
              <a:t>Almacén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especializado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(Azure AI Search) con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índices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HNSW para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búsqueda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rápida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por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similitud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coseno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4. Grounded Prompting: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 err="1">
                <a:solidFill>
                  <a:srgbClr val="333333"/>
                </a:solidFill>
                <a:latin typeface="Inter Tight"/>
              </a:rPr>
              <a:t>Instrucciones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estrictas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al LLM para responder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únicamente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con base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la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evidencia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provista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sin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extrapolar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00000" y="1800000"/>
            <a:ext cx="5650000" cy="4299586"/>
          </a:xfrm>
          <a:prstGeom prst="roundRect">
            <a:avLst/>
          </a:prstGeom>
          <a:solidFill>
            <a:srgbClr val="F6F7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20000" rIns="250000" bIns="22000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endParaRPr sz="1100" dirty="0">
              <a:solidFill>
                <a:srgbClr val="555555"/>
              </a:solidFill>
              <a:latin typeface="Inter Tigh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0CB9FD2-FFCF-7443-3A47-8BCA9EDF0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667" y="2248591"/>
            <a:ext cx="5274666" cy="3515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Fundamento Matemático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3338E"/>
                </a:solidFill>
                <a:latin typeface="Inter Tight Black"/>
              </a:rPr>
              <a:t>RAG expresado formalmente como Inferencia Bayesiana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9" y="1800000"/>
            <a:ext cx="5650000" cy="424218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Generación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Clásica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(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Paramétrica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):</a:t>
            </a:r>
          </a:p>
          <a:p>
            <a:pPr>
              <a:spcBef>
                <a:spcPts val="4500"/>
              </a:spcBef>
              <a:spcAft>
                <a:spcPts val="400"/>
              </a:spcAft>
            </a:pPr>
            <a:r>
              <a:rPr sz="1250" dirty="0">
                <a:solidFill>
                  <a:srgbClr val="333333"/>
                </a:solidFill>
                <a:latin typeface="Inter Tight"/>
              </a:rPr>
              <a:t>El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modelo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depende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únicamente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de sus pesos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fijos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θ. Riesgo alto de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alucinación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si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el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dato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no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fue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memorizado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Generación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Aumentada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(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Inferencia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No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Paramétrica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):</a:t>
            </a:r>
          </a:p>
          <a:p>
            <a:pPr>
              <a:spcBef>
                <a:spcPts val="5000"/>
              </a:spcBef>
              <a:spcAft>
                <a:spcPts val="0"/>
              </a:spcAft>
            </a:pPr>
            <a:r>
              <a:rPr sz="1250" dirty="0">
                <a:solidFill>
                  <a:srgbClr val="333333"/>
                </a:solidFill>
                <a:latin typeface="Inter Tight"/>
              </a:rPr>
              <a:t>• P(d | x): Prior de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relevancia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del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documento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d (Retriever)
• P(y | x, d): Likelihood de la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respuesta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con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evidencia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(Generator)</a:t>
            </a:r>
            <a:endParaRPr lang="es-PE" sz="1250" dirty="0">
              <a:solidFill>
                <a:srgbClr val="333333"/>
              </a:solidFill>
              <a:latin typeface="Inter Tight"/>
            </a:endParaRPr>
          </a:p>
          <a:p>
            <a:pPr>
              <a:spcBef>
                <a:spcPts val="5000"/>
              </a:spcBef>
              <a:spcAft>
                <a:spcPts val="0"/>
              </a:spcAft>
            </a:pPr>
            <a:r>
              <a:rPr sz="1250" dirty="0">
                <a:solidFill>
                  <a:srgbClr val="333333"/>
                </a:solidFill>
                <a:latin typeface="Inter Tight"/>
              </a:rPr>
              <a:t>• La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evidencia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'd'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colapsa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la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entropía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y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enfoca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la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probabilidad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la </a:t>
            </a:r>
            <a:r>
              <a:rPr sz="1250" dirty="0" err="1">
                <a:solidFill>
                  <a:srgbClr val="333333"/>
                </a:solidFill>
                <a:latin typeface="Inter Tight"/>
              </a:rPr>
              <a:t>verdad</a:t>
            </a:r>
            <a:r>
              <a:rPr sz="1250" dirty="0">
                <a:solidFill>
                  <a:srgbClr val="333333"/>
                </a:solidFill>
                <a:latin typeface="Inter Tight"/>
              </a:rPr>
              <a:t> factual.</a:t>
            </a:r>
          </a:p>
        </p:txBody>
      </p:sp>
      <p:pic>
        <p:nvPicPr>
          <p:cNvPr id="6" name="Picture 5" descr="formula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3429000"/>
            <a:ext cx="5200000" cy="76163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7DED749-6AA7-CC8C-0595-DC29D8A0F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19" y="1199834"/>
            <a:ext cx="11090942" cy="39630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Estrategias de Recuperación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3338E"/>
                </a:solidFill>
                <a:latin typeface="Inter Tight Black"/>
              </a:rPr>
              <a:t>¿Por qué los vectores puros no son suficientes?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9" y="1800000"/>
            <a:ext cx="5650000" cy="1528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Búsqueda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Léxica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(BM25):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dirty="0" err="1">
                <a:solidFill>
                  <a:srgbClr val="333333"/>
                </a:solidFill>
                <a:latin typeface="Inter Tight"/>
              </a:rPr>
              <a:t>Excelente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para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códigos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exactos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,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siglas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,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números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de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parte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(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ej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. 'Curiosity RTG-04'). Falla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sinónimos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Búsqueda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Vectorial (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Semántica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):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dirty="0" err="1">
                <a:solidFill>
                  <a:srgbClr val="333333"/>
                </a:solidFill>
                <a:latin typeface="Inter Tight"/>
              </a:rPr>
              <a:t>Excelente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para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conceptos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e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intenciones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(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ej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. '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buscar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vida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' -&gt; '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biofirmas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'). Falla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términos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específicos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 o </a:t>
            </a:r>
            <a:r>
              <a:rPr sz="1300" dirty="0" err="1">
                <a:solidFill>
                  <a:srgbClr val="333333"/>
                </a:solidFill>
                <a:latin typeface="Inter Tight"/>
              </a:rPr>
              <a:t>raros</a:t>
            </a:r>
            <a:r>
              <a:rPr sz="1300" dirty="0">
                <a:solidFill>
                  <a:srgbClr val="333333"/>
                </a:solidFill>
                <a:latin typeface="Inter Tight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38026" y="3428999"/>
            <a:ext cx="8507948" cy="3035583"/>
          </a:xfrm>
          <a:prstGeom prst="roundRect">
            <a:avLst/>
          </a:prstGeom>
          <a:solidFill>
            <a:srgbClr val="F6F7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20000" rIns="250000" bIns="22000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endParaRPr sz="1100" dirty="0">
              <a:solidFill>
                <a:srgbClr val="555555"/>
              </a:solidFill>
              <a:latin typeface="Inter Tigh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1598522-712A-2170-BD8D-1F2859229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377" y="3500657"/>
            <a:ext cx="6981247" cy="2892268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AAA90545-EB47-F2FF-C33F-A73572ADAB8B}"/>
              </a:ext>
            </a:extLst>
          </p:cNvPr>
          <p:cNvSpPr txBox="1"/>
          <p:nvPr/>
        </p:nvSpPr>
        <p:spPr>
          <a:xfrm>
            <a:off x="6092001" y="1751260"/>
            <a:ext cx="5650000" cy="78739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Búsqueda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Híbrida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+ RRF (Best of Both Worlds):</a:t>
            </a:r>
            <a:endParaRPr lang="es-PE" sz="1550" b="1" dirty="0">
              <a:solidFill>
                <a:srgbClr val="C3338E"/>
              </a:solidFill>
              <a:latin typeface="Inter Tight Black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s-MX" sz="1300" dirty="0">
                <a:solidFill>
                  <a:srgbClr val="333333"/>
                </a:solidFill>
                <a:latin typeface="Inter Tight"/>
              </a:rPr>
              <a:t>Ejecuta BM25 y Dense </a:t>
            </a:r>
            <a:r>
              <a:rPr lang="es-MX" sz="1300" dirty="0" err="1">
                <a:solidFill>
                  <a:srgbClr val="333333"/>
                </a:solidFill>
                <a:latin typeface="Inter Tight"/>
              </a:rPr>
              <a:t>Vectors</a:t>
            </a:r>
            <a:r>
              <a:rPr lang="es-MX" sz="1300" dirty="0">
                <a:solidFill>
                  <a:srgbClr val="333333"/>
                </a:solidFill>
                <a:latin typeface="Inter Tight"/>
              </a:rPr>
              <a:t> en paralelo combinando los rankings mediante </a:t>
            </a:r>
            <a:r>
              <a:rPr lang="es-MX" sz="1300" dirty="0" err="1">
                <a:solidFill>
                  <a:srgbClr val="333333"/>
                </a:solidFill>
                <a:latin typeface="Inter Tight"/>
              </a:rPr>
              <a:t>Reciprocal</a:t>
            </a:r>
            <a:r>
              <a:rPr lang="es-MX" sz="1300" dirty="0">
                <a:solidFill>
                  <a:srgbClr val="333333"/>
                </a:solidFill>
                <a:latin typeface="Inter Tight"/>
              </a:rPr>
              <a:t> Rank </a:t>
            </a:r>
            <a:r>
              <a:rPr lang="es-MX" sz="1300" dirty="0" err="1">
                <a:solidFill>
                  <a:srgbClr val="333333"/>
                </a:solidFill>
                <a:latin typeface="Inter Tight"/>
              </a:rPr>
              <a:t>Fusion</a:t>
            </a:r>
            <a:r>
              <a:rPr lang="es-MX" sz="1300" dirty="0">
                <a:solidFill>
                  <a:srgbClr val="333333"/>
                </a:solidFill>
                <a:latin typeface="Inter Tight"/>
              </a:rPr>
              <a:t> para una lista balanceada.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La Pieza Crítica: Semantic Reranker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3338E"/>
                </a:solidFill>
                <a:latin typeface="Inter Tight Black"/>
              </a:rPr>
              <a:t>Transformando candidatos crudos en evidencia de alta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00000" y="1800000"/>
            <a:ext cx="5650000" cy="244425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Velocidad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vs.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Precisión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Los </a:t>
            </a:r>
            <a:r>
              <a:rPr lang="es-PE" sz="1350" dirty="0">
                <a:solidFill>
                  <a:srgbClr val="333333"/>
                </a:solidFill>
                <a:latin typeface="Inter Tight"/>
              </a:rPr>
              <a:t>vectores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filtran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1,000,000 de docs a 50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milisegundos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,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pero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comparan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textos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forma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independiente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Cross-Encoder / Semantic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Reranker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 err="1">
                <a:solidFill>
                  <a:srgbClr val="333333"/>
                </a:solidFill>
                <a:latin typeface="Inter Tight"/>
              </a:rPr>
              <a:t>Evalúa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la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pregunta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y el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fragmento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juntos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mediante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Cross-Attention profunda,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entendiendo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negaciones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y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matices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contextuales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Impacto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en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Producción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Evita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que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fragmentos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irrelevantes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contaminen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el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contexto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del LLM y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garantiza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que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el Top 3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contenga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la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respuesta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exacta.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9999" y="1800000"/>
            <a:ext cx="5650000" cy="4750000"/>
          </a:xfrm>
          <a:prstGeom prst="roundRect">
            <a:avLst/>
          </a:prstGeom>
          <a:solidFill>
            <a:srgbClr val="F6F7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20000" rIns="250000" bIns="22000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endParaRPr sz="1100" dirty="0">
              <a:solidFill>
                <a:srgbClr val="555555"/>
              </a:solidFill>
              <a:latin typeface="Inter Tight"/>
            </a:endParaRPr>
          </a:p>
        </p:txBody>
      </p:sp>
      <p:pic>
        <p:nvPicPr>
          <p:cNvPr id="6" name="Imagen 5" descr="Question answering using a search API and re-ranking">
            <a:extLst>
              <a:ext uri="{FF2B5EF4-FFF2-40B4-BE49-F238E27FC236}">
                <a16:creationId xmlns:a16="http://schemas.microsoft.com/office/drawing/2014/main" id="{84466B7A-C891-5D30-D0CA-21DE6785E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46" y="3103423"/>
            <a:ext cx="5114105" cy="21431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RAG Agéntico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36F0679-FA6C-0909-B5E1-C35963E355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236"/>
          <a:stretch>
            <a:fillRect/>
          </a:stretch>
        </p:blipFill>
        <p:spPr>
          <a:xfrm>
            <a:off x="718106" y="1227410"/>
            <a:ext cx="10755787" cy="4888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Mejores Prácticas de Ingeniería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3338E"/>
                </a:solidFill>
                <a:latin typeface="Inter Tight Black"/>
              </a:rPr>
              <a:t>Estrategias aplicadas en la Fase 04 - Transit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00000" y="1800000"/>
            <a:ext cx="5650000" cy="47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Filtrado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por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Metadatos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 err="1">
                <a:solidFill>
                  <a:srgbClr val="333333"/>
                </a:solidFill>
                <a:latin typeface="Inter Tight"/>
              </a:rPr>
              <a:t>Etiquetado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chunks (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misión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,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fecha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,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categoría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) para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segmentar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búsquedas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antes del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cálculo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similitud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Control de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Alucinaciones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(Fallback):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 err="1">
                <a:solidFill>
                  <a:srgbClr val="333333"/>
                </a:solidFill>
                <a:latin typeface="Inter Tight"/>
              </a:rPr>
              <a:t>Umbrales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confianza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estrictos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: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si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la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evidencia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es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insuficiente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, el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agente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declara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honestamente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que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no dispone del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dato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Streaming de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Respuestas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(SSE):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 err="1">
                <a:solidFill>
                  <a:srgbClr val="333333"/>
                </a:solidFill>
                <a:latin typeface="Inter Tight"/>
              </a:rPr>
              <a:t>Transmisión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tokens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tiempo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real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mejorando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la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latencia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percibida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por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el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usuario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final.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Trazabilidad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&amp;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Citas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Interactivas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Cada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respuesta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incluye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enlaces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directos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al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documento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PDF,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número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página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y score de confianza.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9999" y="1800000"/>
            <a:ext cx="5650000" cy="4750000"/>
          </a:xfrm>
          <a:prstGeom prst="roundRect">
            <a:avLst/>
          </a:prstGeom>
          <a:solidFill>
            <a:srgbClr val="F6F7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20000" rIns="250000" bIns="22000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endParaRPr sz="1100" dirty="0">
              <a:solidFill>
                <a:srgbClr val="555555"/>
              </a:solidFill>
              <a:latin typeface="Inter Tigh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F6A025A-D6DE-4197-6846-49E167704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75" y="1909476"/>
            <a:ext cx="4531048" cy="4531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Arquitectura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C3338E"/>
                </a:solidFill>
                <a:latin typeface="Inter Tight Black"/>
              </a:rPr>
              <a:t>Ecosistema</a:t>
            </a:r>
            <a:r>
              <a:rPr sz="2200" b="1" dirty="0">
                <a:solidFill>
                  <a:srgbClr val="C3338E"/>
                </a:solidFill>
                <a:latin typeface="Inter Tight Black"/>
              </a:rPr>
              <a:t> Cloud: Azure AI Foundry + Search + </a:t>
            </a:r>
            <a:r>
              <a:rPr sz="2200" b="1" dirty="0" err="1">
                <a:solidFill>
                  <a:srgbClr val="C3338E"/>
                </a:solidFill>
                <a:latin typeface="Inter Tight Black"/>
              </a:rPr>
              <a:t>FastAPI</a:t>
            </a:r>
            <a:r>
              <a:rPr sz="2200" b="1" dirty="0">
                <a:solidFill>
                  <a:srgbClr val="C3338E"/>
                </a:solidFill>
                <a:latin typeface="Inter Tight Black"/>
              </a:rPr>
              <a:t> + Next.js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9" y="1800000"/>
            <a:ext cx="5650000" cy="47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Almacenamiento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e Ingesta: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PDFs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oficiales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la NASA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Azure Blob Storage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procesados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mediante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Azure AI Search Indexer.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Motor de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Búsqueda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Azure AI Search con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índice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híbrido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HNSW vectorial + BM25 + Semantic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Reranker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activo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>
                <a:solidFill>
                  <a:srgbClr val="C3338E"/>
                </a:solidFill>
                <a:latin typeface="Inter Tight Black"/>
              </a:rPr>
              <a:t>Cerebro y </a:t>
            </a: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Orquestación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Microsoft Agent Framework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backend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FastAPI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conectando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Azure OpenAI (GPT-4o y Text-Embedding-3).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 dirty="0" err="1">
                <a:solidFill>
                  <a:srgbClr val="C3338E"/>
                </a:solidFill>
                <a:latin typeface="Inter Tight Black"/>
              </a:rPr>
              <a:t>Experiencia</a:t>
            </a:r>
            <a:r>
              <a:rPr sz="1550" b="1" dirty="0">
                <a:solidFill>
                  <a:srgbClr val="C3338E"/>
                </a:solidFill>
                <a:latin typeface="Inter Tight Black"/>
              </a:rPr>
              <a:t> de Usuario: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dirty="0">
                <a:solidFill>
                  <a:srgbClr val="333333"/>
                </a:solidFill>
                <a:latin typeface="Inter Tight"/>
              </a:rPr>
              <a:t>Frontend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en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Next.js con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explorador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chunks,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comparador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de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rerank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 y chat </a:t>
            </a:r>
            <a:r>
              <a:rPr sz="1350" dirty="0" err="1">
                <a:solidFill>
                  <a:srgbClr val="333333"/>
                </a:solidFill>
                <a:latin typeface="Inter Tight"/>
              </a:rPr>
              <a:t>conversacional</a:t>
            </a:r>
            <a:r>
              <a:rPr sz="1350" dirty="0">
                <a:solidFill>
                  <a:srgbClr val="333333"/>
                </a:solidFill>
                <a:latin typeface="Inter Tight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00000" y="1800000"/>
            <a:ext cx="5650000" cy="4750000"/>
          </a:xfrm>
          <a:prstGeom prst="roundRect">
            <a:avLst/>
          </a:prstGeom>
          <a:solidFill>
            <a:srgbClr val="F6F7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20000" rIns="250000" bIns="22000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endParaRPr sz="1100" dirty="0">
              <a:solidFill>
                <a:srgbClr val="555555"/>
              </a:solidFill>
              <a:latin typeface="Inter Tigh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29090C9-1C7E-0EE3-4CF0-AE70924319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10"/>
          <a:stretch>
            <a:fillRect/>
          </a:stretch>
        </p:blipFill>
        <p:spPr>
          <a:xfrm>
            <a:off x="6128851" y="2743200"/>
            <a:ext cx="5585713" cy="2772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Laboratorio Práctico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sz="4800">
                <a:solidFill>
                  <a:srgbClr val="333333"/>
                </a:solidFill>
                <a:latin typeface="Inter Tight"/>
              </a:rPr>
              <a:t>Con estos conceptos claros, veamos a RAG y a nuestro agente en acción sobre las misiones a Marte.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3338E"/>
                </a:solidFill>
                <a:latin typeface="Inter Tight Black"/>
              </a:rPr>
              <a:t>Casos de Prueba en la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999" y="1281299"/>
            <a:ext cx="1132408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3338E"/>
                </a:solidFill>
                <a:latin typeface="Inter Tight Black"/>
              </a:rPr>
              <a:t>Lo que demostraremos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9" y="1800000"/>
            <a:ext cx="5650000" cy="47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>
                <a:solidFill>
                  <a:srgbClr val="C3338E"/>
                </a:solidFill>
                <a:latin typeface="Inter Tight Black"/>
              </a:rPr>
              <a:t>Caso 1: Búsqueda Semántica Conceptual: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Inter Tight"/>
              </a:rPr>
              <a:t>Pregunta sin palabras exactas ('¿Qué experimentos buscan biofirmas fósiles?') -&gt; Encuentra Perseverance y Mars 2020.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>
                <a:solidFill>
                  <a:srgbClr val="C3338E"/>
                </a:solidFill>
                <a:latin typeface="Inter Tight Black"/>
              </a:rPr>
              <a:t>Caso 2: El Poder del Semantic Reranker (Cráter Jezero):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Inter Tight"/>
              </a:rPr>
              <a:t>• Sin Rerank: Se mezclan fragmentos de Phoenix/Curiosity y el agente reporta falta de evidencia.
• Con Rerank: Los fragmentos de Mars 2020 suben al #1 y la respuesta es 100% precisa.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50" b="1">
                <a:solidFill>
                  <a:srgbClr val="C3338E"/>
                </a:solidFill>
                <a:latin typeface="Inter Tight Black"/>
              </a:rPr>
              <a:t>Caso 3: Pregunta Fuera de Dominio (Out of Corpus):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Inter Tight"/>
              </a:rPr>
              <a:t>Pregunta ajena ('¿Cuál es el menú del comedor de la NASA?') -&gt; El agente reconoce límites sin alucinar.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00000" y="1800000"/>
            <a:ext cx="5650000" cy="4750000"/>
          </a:xfrm>
          <a:prstGeom prst="roundRect">
            <a:avLst/>
          </a:prstGeom>
          <a:solidFill>
            <a:srgbClr val="F6F7FB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tIns="220000" rIns="250000" bIns="22000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3338E"/>
                </a:solidFill>
                <a:latin typeface="Inter Tight Black"/>
              </a:rPr>
              <a:t>🖼️ [ RECURSO VISUAL SUGERIDO ]</a:t>
            </a:r>
          </a:p>
          <a:p>
            <a:pPr algn="ctr"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333333"/>
                </a:solidFill>
                <a:latin typeface="Inter Tight Black"/>
              </a:rPr>
              <a:t>Interfaz de la Demo (Next.js + FastAPI)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>
                <a:solidFill>
                  <a:srgbClr val="555555"/>
                </a:solidFill>
                <a:latin typeface="Inter Tight"/>
              </a:rPr>
              <a:t>Captura de pantalla dividida de la aplicación web: Panel izquierdo mostrando la comparativa de chunks con vs sin Rerank; Panel derecho mostrando la respuesta final del agente con citas interactivas y badges de confianza.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049"/>
            <a:ext cx="12192000" cy="68539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5316" y="121555"/>
            <a:ext cx="6084807" cy="558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i="1">
                <a:solidFill>
                  <a:srgbClr val="FFFFFF"/>
                </a:solidFill>
                <a:latin typeface="Inter Tight Light"/>
              </a:rPr>
              <a:t>#ComunidadIA</a:t>
            </a:r>
          </a:p>
        </p:txBody>
      </p:sp>
      <p:pic>
        <p:nvPicPr>
          <p:cNvPr id="4" name="Picture 3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369" y="299946"/>
            <a:ext cx="2159555" cy="2612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877" y="861733"/>
            <a:ext cx="11133047" cy="13280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Inter Tight Black"/>
              </a:rPr>
              <a:t>¡Ayúdanos a potenciar los</a:t>
            </a:r>
          </a:p>
          <a:p>
            <a:pPr algn="ctr"/>
            <a:r>
              <a:rPr sz="4000" b="1">
                <a:solidFill>
                  <a:srgbClr val="2AD2C9"/>
                </a:solidFill>
                <a:latin typeface="Inter Tight Black"/>
              </a:rPr>
              <a:t>MIÉRCOLES DE IA!</a:t>
            </a:r>
          </a:p>
        </p:txBody>
      </p:sp>
      <p:pic>
        <p:nvPicPr>
          <p:cNvPr id="6" name="Picture 5" descr="image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432" y="1907601"/>
            <a:ext cx="3292900" cy="4939351"/>
          </a:xfrm>
          <a:prstGeom prst="rect">
            <a:avLst/>
          </a:prstGeom>
        </p:spPr>
      </p:pic>
      <p:pic>
        <p:nvPicPr>
          <p:cNvPr id="7" name="Picture 6" descr="image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227" y="2524765"/>
            <a:ext cx="3292900" cy="3471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877" y="3590142"/>
            <a:ext cx="4344103" cy="1574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>
                <a:solidFill>
                  <a:srgbClr val="FFFFFF"/>
                </a:solidFill>
                <a:latin typeface="Inter Tight"/>
              </a:rPr>
              <a:t>Tu opinión es clave para seguir aprendiendo juntos.🚀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0206" y="6293450"/>
            <a:ext cx="1093659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Inter Tight Light"/>
              </a:rPr>
              <a:t>PONLE </a:t>
            </a:r>
            <a:r>
              <a:rPr sz="1500">
                <a:solidFill>
                  <a:srgbClr val="FFFFFF"/>
                </a:solidFill>
                <a:latin typeface="Inter Tight Black"/>
              </a:rPr>
              <a:t>IA </a:t>
            </a:r>
            <a:r>
              <a:rPr sz="1500">
                <a:solidFill>
                  <a:srgbClr val="FFFFFF"/>
                </a:solidFill>
                <a:latin typeface="Inter Tight Light"/>
              </a:rPr>
              <a:t>A TU D</a:t>
            </a:r>
            <a:r>
              <a:rPr sz="1500">
                <a:solidFill>
                  <a:srgbClr val="FFFFFF"/>
                </a:solidFill>
                <a:latin typeface="Inter Tight Black"/>
              </a:rPr>
              <a:t>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REDICORP">
      <a:dk1>
        <a:srgbClr val="555555"/>
      </a:dk1>
      <a:lt1>
        <a:srgbClr val="FAF7F3"/>
      </a:lt1>
      <a:dk2>
        <a:srgbClr val="000000"/>
      </a:dk2>
      <a:lt2>
        <a:srgbClr val="FFFFFF"/>
      </a:lt2>
      <a:accent1>
        <a:srgbClr val="C3338E"/>
      </a:accent1>
      <a:accent2>
        <a:srgbClr val="E32811"/>
      </a:accent2>
      <a:accent3>
        <a:srgbClr val="13AC7C"/>
      </a:accent3>
      <a:accent4>
        <a:srgbClr val="15B3E3"/>
      </a:accent4>
      <a:accent5>
        <a:srgbClr val="9C2A6F"/>
      </a:accent5>
      <a:accent6>
        <a:srgbClr val="00877C"/>
      </a:accent6>
      <a:hlink>
        <a:srgbClr val="F183CB"/>
      </a:hlink>
      <a:folHlink>
        <a:srgbClr val="2AD2C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de01f0-98fc-4e2c-b7cc-2d6b13d5b0c1"/>
    <lcf76f155ced4ddcb4097134ff3c332f xmlns="04227675-1024-4514-b583-f48ba8acf20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9A1C01428AD1409B0E041CFFB576C1" ma:contentTypeVersion="13" ma:contentTypeDescription="Crear nuevo documento." ma:contentTypeScope="" ma:versionID="3ef865bccbe5ae32f03479596f2e7462">
  <xsd:schema xmlns:xsd="http://www.w3.org/2001/XMLSchema" xmlns:xs="http://www.w3.org/2001/XMLSchema" xmlns:p="http://schemas.microsoft.com/office/2006/metadata/properties" xmlns:ns2="04227675-1024-4514-b583-f48ba8acf208" xmlns:ns3="3fde01f0-98fc-4e2c-b7cc-2d6b13d5b0c1" targetNamespace="http://schemas.microsoft.com/office/2006/metadata/properties" ma:root="true" ma:fieldsID="47f08afb7a897a38357038ce9adfb986" ns2:_="" ns3:_="">
    <xsd:import namespace="04227675-1024-4514-b583-f48ba8acf208"/>
    <xsd:import namespace="3fde01f0-98fc-4e2c-b7cc-2d6b13d5b0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227675-1024-4514-b583-f48ba8acf2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99a4d325-e744-4b40-a3b6-bd808253b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e01f0-98fc-4e2c-b7cc-2d6b13d5b0c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9584d8e-0507-4018-a6a0-a488412e16bc}" ma:internalName="TaxCatchAll" ma:showField="CatchAllData" ma:web="3fde01f0-98fc-4e2c-b7cc-2d6b13d5b0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753A4F-B056-4FF5-AA79-160B2C3F5E94}">
  <ds:schemaRefs>
    <ds:schemaRef ds:uri="http://www.w3.org/XML/1998/namespace"/>
    <ds:schemaRef ds:uri="http://purl.org/dc/elements/1.1/"/>
    <ds:schemaRef ds:uri="http://purl.org/dc/terms/"/>
    <ds:schemaRef ds:uri="3fde01f0-98fc-4e2c-b7cc-2d6b13d5b0c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04227675-1024-4514-b583-f48ba8acf208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62BBED8-9693-4406-A9EF-DED5E6422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227675-1024-4514-b583-f48ba8acf208"/>
    <ds:schemaRef ds:uri="3fde01f0-98fc-4e2c-b7cc-2d6b13d5b0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4099DC-0F68-4DEA-8962-FA19AAA430E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7605</TotalTime>
  <Words>1065</Words>
  <Application>Microsoft Office PowerPoint</Application>
  <PresentationFormat>Panorámica</PresentationFormat>
  <Paragraphs>104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Inter Tight</vt:lpstr>
      <vt:lpstr>Inter Tight Black</vt:lpstr>
      <vt:lpstr>Inter Tight Light</vt:lpstr>
      <vt:lpstr>Aptos</vt:lpstr>
      <vt:lpstr>Arial</vt:lpstr>
      <vt:lpstr>Calibri</vt:lpstr>
      <vt:lpstr>Calibri Light</vt:lpstr>
      <vt:lpstr>Tema de Office</vt:lpstr>
      <vt:lpstr>RAG + Agent Framework</vt:lpstr>
      <vt:lpstr>Presentación de PowerPoint</vt:lpstr>
      <vt:lpstr>El Desafío de los LLMs</vt:lpstr>
      <vt:lpstr>Fundamentos de RAG</vt:lpstr>
      <vt:lpstr>Arquitectura del Pipeline</vt:lpstr>
      <vt:lpstr>Fundamento Matemático</vt:lpstr>
      <vt:lpstr>Estrategias de Recuperación</vt:lpstr>
      <vt:lpstr>La Pieza Crítica: Semantic Reranker</vt:lpstr>
      <vt:lpstr>RAG Agéntico</vt:lpstr>
      <vt:lpstr>Mejores Prácticas de Ingeniería</vt:lpstr>
      <vt:lpstr>Arquitectura del Proyecto</vt:lpstr>
      <vt:lpstr>Laboratorio Práctico</vt:lpstr>
      <vt:lpstr>Casos de Prueba en la Demo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Schmitt Vega</dc:creator>
  <cp:lastModifiedBy>Kevin Gomez Villanueva</cp:lastModifiedBy>
  <cp:revision>23</cp:revision>
  <dcterms:created xsi:type="dcterms:W3CDTF">2024-09-09T20:07:07Z</dcterms:created>
  <dcterms:modified xsi:type="dcterms:W3CDTF">2026-08-31T14:42:06Z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5ead3b-a842-409e-8059-3e3468c48585_Enabled">
    <vt:lpwstr>true</vt:lpwstr>
  </property>
  <property fmtid="{D5CDD505-2E9C-101B-9397-08002B2CF9AE}" pid="3" name="MSIP_Label_c15ead3b-a842-409e-8059-3e3468c48585_SetDate">
    <vt:lpwstr>2024-09-09T20:32:59Z</vt:lpwstr>
  </property>
  <property fmtid="{D5CDD505-2E9C-101B-9397-08002B2CF9AE}" pid="4" name="MSIP_Label_c15ead3b-a842-409e-8059-3e3468c48585_Method">
    <vt:lpwstr>Standard</vt:lpwstr>
  </property>
  <property fmtid="{D5CDD505-2E9C-101B-9397-08002B2CF9AE}" pid="5" name="MSIP_Label_c15ead3b-a842-409e-8059-3e3468c48585_Name">
    <vt:lpwstr>Interna BCP</vt:lpwstr>
  </property>
  <property fmtid="{D5CDD505-2E9C-101B-9397-08002B2CF9AE}" pid="6" name="MSIP_Label_c15ead3b-a842-409e-8059-3e3468c48585_SiteId">
    <vt:lpwstr>5d93ebcc-f769-4380-8b7e-289fc972da1b</vt:lpwstr>
  </property>
  <property fmtid="{D5CDD505-2E9C-101B-9397-08002B2CF9AE}" pid="7" name="MSIP_Label_c15ead3b-a842-409e-8059-3e3468c48585_ActionId">
    <vt:lpwstr>e52d7a4a-89d1-452d-98eb-b8a5623ab026</vt:lpwstr>
  </property>
  <property fmtid="{D5CDD505-2E9C-101B-9397-08002B2CF9AE}" pid="8" name="MSIP_Label_c15ead3b-a842-409e-8059-3e3468c48585_ContentBits">
    <vt:lpwstr>2</vt:lpwstr>
  </property>
  <property fmtid="{D5CDD505-2E9C-101B-9397-08002B2CF9AE}" pid="9" name="ClassificationContentMarkingFooterLocations">
    <vt:lpwstr>Tema de Office:9</vt:lpwstr>
  </property>
  <property fmtid="{D5CDD505-2E9C-101B-9397-08002B2CF9AE}" pid="10" name="ClassificationContentMarkingFooterText">
    <vt:lpwstr>Datos elaborados por BCP para uso Interno</vt:lpwstr>
  </property>
  <property fmtid="{D5CDD505-2E9C-101B-9397-08002B2CF9AE}" pid="11" name="ContentTypeId">
    <vt:lpwstr>0x010100E49A1C01428AD1409B0E041CFFB576C1</vt:lpwstr>
  </property>
  <property fmtid="{D5CDD505-2E9C-101B-9397-08002B2CF9AE}" pid="12" name="MediaServiceImageTags">
    <vt:lpwstr/>
  </property>
</Properties>
</file>