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261" r:id="rId5"/>
    <p:sldId id="290" r:id="rId6"/>
    <p:sldId id="293" r:id="rId7"/>
    <p:sldId id="294" r:id="rId8"/>
    <p:sldId id="295" r:id="rId9"/>
    <p:sldId id="301" r:id="rId10"/>
    <p:sldId id="296" r:id="rId11"/>
    <p:sldId id="302" r:id="rId12"/>
    <p:sldId id="297" r:id="rId13"/>
    <p:sldId id="303" r:id="rId14"/>
    <p:sldId id="298" r:id="rId15"/>
    <p:sldId id="300" r:id="rId16"/>
    <p:sldId id="29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1A0CB7-68DC-91B5-5772-320A2192D8DF}" name="Paul Schmitt Vega" initials="" userId="S::paulschmitt@bcp.com.pe::062c1f0f-d73f-41fd-bf6a-85906dcf0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95"/>
    <p:restoredTop sz="86386"/>
  </p:normalViewPr>
  <p:slideViewPr>
    <p:cSldViewPr snapToGrid="0">
      <p:cViewPr varScale="1">
        <p:scale>
          <a:sx n="54" d="100"/>
          <a:sy n="54" d="100"/>
        </p:scale>
        <p:origin x="145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F2EF7-5AEE-7648-9022-ED6E53D01B23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D005F-A431-3141-89A8-5152D3DB0E9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21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9473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0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593D3-C7B6-811B-5944-018C82C5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2A409F-091E-2FA1-21C3-B74B075B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2C5ED9-7F13-3B90-4EBD-DE4C9CCDB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3FAF02-61FA-AD4E-4046-918A094D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398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31D9-053F-F3FD-F4B0-C790E113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F6F2C7-3F05-97FF-F02C-22637A4E7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A1A4CF-CE23-8F8A-0489-3569920FF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A90D1B-B970-C2F9-3B1E-E16732879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8951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F7C7-BE2C-BB0B-37F3-53658398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4B1974-B688-B2F4-0580-0E76C0668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A5655B-CD88-503D-13F0-91B165A8D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0B5801-2D4A-1788-718E-213003813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124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32B1E-1FB5-4C9B-2E00-217375DA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365EBA-265B-3E10-8E2D-EE3550196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C9F31A-CF1C-1B87-FC83-16AB0F37D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0A96A9-CAC7-6157-7BAB-062743CE3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6632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A73B-2C9D-8A8C-0F2C-0236D87A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A23DE1-413C-0979-9B41-3B933CFBC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78441F-1AF8-3D4F-5419-2CAF24905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B59916-5CB6-9D9C-A660-67A6D7F83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181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A7C9-08FF-1240-D969-F378CB49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1E74A3-6696-E2CC-7552-8735DB80C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4455D0-7172-81DC-9ACC-44721F79F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0B32A8-E111-886D-BAE7-39B0CEA6A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0268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459C-49FC-F47D-6894-09636569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B95CBE-17A6-9902-3449-73D4DB112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DB3B3F-0C0F-E849-7C65-0F2AFC387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35D635-A364-72BF-6B6E-87B82B2BA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7405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C9AC-0729-2C72-1D4A-4682F1BA2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4B7327-DFC6-E7EA-A808-C8DAB83E3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215C6F-0650-2D6B-8BA4-9FD2428E0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226963-6A44-B6D8-5A73-40AE076D4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7889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1F9A-C044-4B34-8ABE-735443F5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357BEB-1282-A5B5-6F1A-09A441770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25A800-8FC0-A35A-F624-18D571975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0F540A-FCAB-0CF6-8B1B-58ABD7809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2815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F7DA-FD44-B174-4D18-AB50EC7A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C760D8-C441-2E02-B659-CDD3AD631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513B33-9035-A517-4158-C4C449649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14B418-A32B-CA5B-89A6-539CA5B25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805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540000"/>
            <a:ext cx="9144000" cy="14957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/>
              <a:t>Título</a:t>
            </a:r>
            <a:br>
              <a:rPr lang="es-ES_tradnl" noProof="0"/>
            </a:br>
            <a:r>
              <a:rPr lang="es-ES_tradnl" noProof="0"/>
              <a:t>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2035794"/>
            <a:ext cx="914400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D139A-93C3-DDFF-F294-954A70520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005" y="5094475"/>
            <a:ext cx="11413989" cy="13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9B085F-4A05-7F88-A8DD-2C0B44869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9725" y="2836079"/>
            <a:ext cx="8949464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 dirty="0"/>
              <a:t>Título 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19725" y="3618742"/>
            <a:ext cx="8949464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847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rgbClr val="FFB90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15625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BD7A-A683-62B2-7828-A6CB69D292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9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76F6-55AA-F898-15DD-D2812BD983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3067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5679139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6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br>
              <a:rPr lang="es-MX" dirty="0"/>
            </a:br>
            <a:r>
              <a:rPr lang="es-MX" dirty="0"/>
              <a:t>Principal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358963"/>
            <a:ext cx="567913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582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BA3CCB-79E1-29D4-4D57-4D9A256D9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6DF01C-80D2-E3F6-AF08-74D8FCA6FF99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CC0656-6234-2908-F914-6274734817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8539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03765A-0B8D-AB7F-691F-1E54E1C249C5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D717897-C9D5-645D-1D06-2C87C8C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A7C64-3356-D972-6C90-529606E2D9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1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96633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642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92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5987FA-CDF8-DB93-C529-0E9E59F0C2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6725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sp>
        <p:nvSpPr>
          <p:cNvPr id="20" name="Marcador de título 19">
            <a:extLst>
              <a:ext uri="{FF2B5EF4-FFF2-40B4-BE49-F238E27FC236}">
                <a16:creationId xmlns:a16="http://schemas.microsoft.com/office/drawing/2014/main" id="{924A4A65-4B56-E533-F2C1-C4756DA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14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8561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0" r:id="rId2"/>
    <p:sldLayoutId id="2147483714" r:id="rId3"/>
    <p:sldLayoutId id="2147483715" r:id="rId4"/>
    <p:sldLayoutId id="2147483716" r:id="rId5"/>
    <p:sldLayoutId id="2147483698" r:id="rId6"/>
    <p:sldLayoutId id="2147483712" r:id="rId7"/>
    <p:sldLayoutId id="2147483711" r:id="rId8"/>
    <p:sldLayoutId id="2147483708" r:id="rId9"/>
    <p:sldLayoutId id="2147483713" r:id="rId10"/>
    <p:sldLayoutId id="2147483710" r:id="rId11"/>
    <p:sldLayoutId id="2147483717" r:id="rId12"/>
    <p:sldLayoutId id="2147483718" r:id="rId13"/>
    <p:sldLayoutId id="2147483719" r:id="rId14"/>
    <p:sldLayoutId id="214748372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ln>
            <a:noFill/>
          </a:ln>
          <a:solidFill>
            <a:schemeClr val="accent1"/>
          </a:solidFill>
          <a:latin typeface="Inter Tight" pitchFamily="2" charset="0"/>
          <a:ea typeface="Inter Tight" pitchFamily="2" charset="0"/>
          <a:cs typeface="Inter T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80628-BF15-2E5D-0842-602267FDC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430669"/>
            <a:ext cx="9144000" cy="747897"/>
          </a:xfrm>
        </p:spPr>
        <p:txBody>
          <a:bodyPr/>
          <a:lstStyle/>
          <a:p>
            <a:r>
              <a:rPr lang="es-PE" b="0" dirty="0"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Python + </a:t>
            </a:r>
            <a:r>
              <a:rPr lang="es-PE" b="0" dirty="0" err="1"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Agents</a:t>
            </a:r>
            <a:endParaRPr lang="es-PE" b="0" dirty="0"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6D40A3-764F-7412-C1A5-81166598F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178566"/>
            <a:ext cx="9144000" cy="424732"/>
          </a:xfrm>
        </p:spPr>
        <p:txBody>
          <a:bodyPr/>
          <a:lstStyle/>
          <a:p>
            <a:r>
              <a:rPr lang="es-PE" dirty="0">
                <a:latin typeface="Inter Tight"/>
              </a:rPr>
              <a:t>Domina el Microsoft Agent Framework 1.0 desde cero</a:t>
            </a:r>
          </a:p>
        </p:txBody>
      </p:sp>
    </p:spTree>
    <p:extLst>
      <p:ext uri="{BB962C8B-B14F-4D97-AF65-F5344CB8AC3E}">
        <p14:creationId xmlns:p14="http://schemas.microsoft.com/office/powerpoint/2010/main" val="47434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8D58F-8926-3EDC-C5B3-E0BB7AFFBFF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60000" y="414431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PE" sz="4800" dirty="0"/>
              <a:t>Agenda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F58B060-E55D-B789-6769-EAF78DC3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73635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393348" y="2047937"/>
          <a:ext cx="9405305" cy="41176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463545">
                  <a:extLst>
                    <a:ext uri="{9D8B030D-6E8A-4147-A177-3AD203B41FA5}">
                      <a16:colId xmlns:a16="http://schemas.microsoft.com/office/drawing/2014/main" val="3595496720"/>
                    </a:ext>
                  </a:extLst>
                </a:gridCol>
                <a:gridCol w="6941760">
                  <a:extLst>
                    <a:ext uri="{9D8B030D-6E8A-4147-A177-3AD203B41FA5}">
                      <a16:colId xmlns:a16="http://schemas.microsoft.com/office/drawing/2014/main" val="1327659996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3300" b="1" cap="none" spc="0">
                          <a:solidFill>
                            <a:schemeClr val="accent1"/>
                          </a:solidFill>
                          <a:latin typeface="Inter Tight"/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2400" dirty="0">
                          <a:effectLst/>
                          <a:latin typeface="Inter Tight"/>
                        </a:rPr>
                        <a:t>Fundamentos de IA</a:t>
                      </a:r>
                      <a:endParaRPr lang="es-PE" sz="2100" b="0" cap="none" spc="0" dirty="0">
                        <a:solidFill>
                          <a:schemeClr val="tx1"/>
                        </a:solidFill>
                        <a:latin typeface="Inter Tight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575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3300" b="1" cap="none" spc="0" dirty="0">
                          <a:solidFill>
                            <a:schemeClr val="accent1"/>
                          </a:solidFill>
                          <a:latin typeface="Inter Tight"/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2400" dirty="0">
                          <a:effectLst/>
                          <a:latin typeface="Inter Tight"/>
                        </a:rPr>
                        <a:t>Diferencias entre LLM y Agentes</a:t>
                      </a:r>
                      <a:endParaRPr lang="es-PE" sz="2100" b="0" cap="none" spc="0" dirty="0">
                        <a:solidFill>
                          <a:schemeClr val="tx1"/>
                        </a:solidFill>
                        <a:latin typeface="Inter Tight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79195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3300" b="1" cap="none" spc="0">
                          <a:solidFill>
                            <a:schemeClr val="accent1"/>
                          </a:solidFill>
                          <a:latin typeface="Inter Tight"/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2400" dirty="0">
                          <a:effectLst/>
                          <a:latin typeface="Inter Tight"/>
                        </a:rPr>
                        <a:t>Introducción a Microsoft Agent Framework</a:t>
                      </a:r>
                      <a:endParaRPr lang="es-PE" sz="2100" b="0" cap="none" spc="0" dirty="0">
                        <a:solidFill>
                          <a:schemeClr val="tx1"/>
                        </a:solidFill>
                        <a:latin typeface="Inter Tight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58905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3300" b="1" cap="none" spc="0">
                          <a:solidFill>
                            <a:schemeClr val="accent1"/>
                          </a:solidFill>
                          <a:latin typeface="Inter Tight"/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2400" dirty="0">
                          <a:effectLst/>
                          <a:latin typeface="Inter Tight"/>
                        </a:rPr>
                        <a:t>Componentes clave de MAF</a:t>
                      </a:r>
                      <a:endParaRPr lang="es-PE" sz="2100" b="0" cap="none" spc="0" dirty="0">
                        <a:solidFill>
                          <a:schemeClr val="tx1"/>
                        </a:solidFill>
                        <a:latin typeface="Inter Tight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11663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3300" b="1" cap="none" spc="0">
                          <a:solidFill>
                            <a:schemeClr val="accent1"/>
                          </a:solidFill>
                          <a:latin typeface="Inter Tight"/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2400" dirty="0">
                          <a:effectLst/>
                          <a:latin typeface="Inter Tight"/>
                        </a:rPr>
                        <a:t>Demo: Construcción de un agente</a:t>
                      </a:r>
                      <a:endParaRPr lang="es-PE" sz="2100" b="0" cap="none" spc="0" dirty="0">
                        <a:solidFill>
                          <a:schemeClr val="tx1"/>
                        </a:solidFill>
                        <a:latin typeface="Inter Tight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84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49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D792-9704-F07D-702D-B7C6B698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986D363E-18F9-62F4-ED40-68AE992B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36E5C0BD-5144-5C24-6C83-C9F84FF2E3AD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Modelo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2B92A3-8913-C531-A10B-522C6E665157}"/>
              </a:ext>
            </a:extLst>
          </p:cNvPr>
          <p:cNvSpPr txBox="1"/>
          <p:nvPr/>
        </p:nvSpPr>
        <p:spPr>
          <a:xfrm>
            <a:off x="359999" y="1870200"/>
            <a:ext cx="5199973" cy="2797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Es el componente central de un sistema de IA.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Ha sido entrenado con datos para identificar patrones y generar resultados.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¿Para qué sirve?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Convierte una entrada (texto, imagen o datos) en una salida útil basada en su entrenamiento.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Ejemplo: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Generar una imagen modificada (por ejemplo, agregar un objeto a una foto).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552C0B-D75A-BA69-EBE4-464D8190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72"/>
          <a:stretch>
            <a:fillRect/>
          </a:stretch>
        </p:blipFill>
        <p:spPr>
          <a:xfrm>
            <a:off x="5820346" y="1613698"/>
            <a:ext cx="5863738" cy="31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1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25F2-2293-8463-5A5B-492787A1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B95B824F-7E95-BD0A-AAA0-B0FF4446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24AF512E-95C6-8C67-D26A-8B2B546D3974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LLM (Large </a:t>
            </a:r>
            <a:r>
              <a:rPr lang="es-PE" dirty="0" err="1"/>
              <a:t>Language</a:t>
            </a:r>
            <a:r>
              <a:rPr lang="es-PE" dirty="0"/>
              <a:t> Model / Modelo de Lenguaje Grande)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8DA61C-F87B-460E-C2E8-70108A46156F}"/>
              </a:ext>
            </a:extLst>
          </p:cNvPr>
          <p:cNvSpPr txBox="1"/>
          <p:nvPr/>
        </p:nvSpPr>
        <p:spPr>
          <a:xfrm>
            <a:off x="360000" y="1870200"/>
            <a:ext cx="5736000" cy="36286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Modelo especializado en lenguaje natural, entrenado con grandes volúmenes de texto.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¿Para qué sirve?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Comprender, generar y transformar lenguaje humano.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Casos de uso: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Redacción de textos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Traducción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Resumen de información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Chat conversacional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Ejemplo: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Generar un correo formal automáticamente.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4649F9-CED9-36C1-FCE9-1174ED1C6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E57F269-D235-24AF-29A0-3BCFC093B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391" b="30347"/>
          <a:stretch>
            <a:fillRect/>
          </a:stretch>
        </p:blipFill>
        <p:spPr>
          <a:xfrm>
            <a:off x="6022041" y="1940838"/>
            <a:ext cx="5784809" cy="350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29A9-40E3-8F4F-DAAF-42C779F8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19C49176-233C-6553-1CFB-1247AA76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5EF48724-B6A5-CA59-E29E-BD10FE4C4193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Agente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770E92-0360-EDB4-93A4-393BAFC75529}"/>
              </a:ext>
            </a:extLst>
          </p:cNvPr>
          <p:cNvSpPr txBox="1"/>
          <p:nvPr/>
        </p:nvSpPr>
        <p:spPr>
          <a:xfrm>
            <a:off x="360000" y="1870200"/>
            <a:ext cx="10980548" cy="3074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Sistema que utiliza un LLM como “cerebro” y puede tomar decisiones para cumplir un objetivo.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Características clave: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Autonomía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Uso de herramientas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Ejecución de acciones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¿Para qué sirve?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Automatizar procesos completos sin intervención constante.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sz="2000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Ejemplo: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Gestionar automáticamente la planificación de vacaciones.</a:t>
            </a:r>
          </a:p>
        </p:txBody>
      </p:sp>
    </p:spTree>
    <p:extLst>
      <p:ext uri="{BB962C8B-B14F-4D97-AF65-F5344CB8AC3E}">
        <p14:creationId xmlns:p14="http://schemas.microsoft.com/office/powerpoint/2010/main" val="43637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73A24-D6AE-0519-74EB-3115C6B7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1CF5CD92-4717-44A4-83B4-1AF6E678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3449DA8F-F8D8-FA72-5FD8-F98F1CAB5F88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Agente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990C86-46ED-F494-11A4-34CCC4F03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83" b="15073"/>
          <a:stretch>
            <a:fillRect/>
          </a:stretch>
        </p:blipFill>
        <p:spPr>
          <a:xfrm>
            <a:off x="359999" y="1723028"/>
            <a:ext cx="10449000" cy="454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7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585F-5898-442C-D5BF-FB5E6190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F68E9BC9-F92F-661E-CA05-EDDE3E01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878E59E9-8E06-F0F7-C3FB-B5BF57C641C3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Sistema </a:t>
            </a:r>
            <a:r>
              <a:rPr lang="es-PE" dirty="0" err="1"/>
              <a:t>multiagente</a:t>
            </a:r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8EFA640-B559-858A-A5CA-BDA8521D435E}"/>
              </a:ext>
            </a:extLst>
          </p:cNvPr>
          <p:cNvSpPr txBox="1"/>
          <p:nvPr/>
        </p:nvSpPr>
        <p:spPr>
          <a:xfrm>
            <a:off x="359999" y="1870200"/>
            <a:ext cx="11324085" cy="224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Conjunto de agentes especializados que colaboran para resolver problemas complejos.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¿Para qué sirve?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Dividir un problema en tareas más pequeñas y coordinadas.</a:t>
            </a:r>
          </a:p>
          <a:p>
            <a:pPr>
              <a:lnSpc>
                <a:spcPct val="90000"/>
              </a:lnSpc>
            </a:pPr>
            <a:endParaRPr lang="es-PE" dirty="0">
              <a:latin typeface="Inter Tight"/>
              <a:ea typeface="Inter Tight Medium" pitchFamily="2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PE" b="1" dirty="0">
                <a:solidFill>
                  <a:schemeClr val="accent1"/>
                </a:solidFill>
                <a:latin typeface="Inter Tight"/>
                <a:ea typeface="Inter Tight Medium" pitchFamily="2" charset="0"/>
                <a:cs typeface="Calibri" panose="020F0502020204030204" pitchFamily="34" charset="0"/>
              </a:rPr>
              <a:t>Ejemplo: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Agente 1 (Atención): interactúa con el cliente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Agente 2 (Riesgo): analiza historial crediticio</a:t>
            </a:r>
          </a:p>
          <a:p>
            <a:pPr>
              <a:lnSpc>
                <a:spcPct val="90000"/>
              </a:lnSpc>
            </a:pPr>
            <a:r>
              <a:rPr lang="es-PE" dirty="0">
                <a:latin typeface="Inter Tight"/>
                <a:ea typeface="Inter Tight Medium" pitchFamily="2" charset="0"/>
                <a:cs typeface="Calibri" panose="020F0502020204030204" pitchFamily="34" charset="0"/>
              </a:rPr>
              <a:t>- Agente 3 (Decisión): aprueba o rechaza el crédito</a:t>
            </a:r>
          </a:p>
        </p:txBody>
      </p:sp>
    </p:spTree>
    <p:extLst>
      <p:ext uri="{BB962C8B-B14F-4D97-AF65-F5344CB8AC3E}">
        <p14:creationId xmlns:p14="http://schemas.microsoft.com/office/powerpoint/2010/main" val="163065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B316-94BA-8C49-3CB6-F104E2E8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35F6605D-EBA1-8B39-E16A-A9B71B9E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Clave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389C7B72-3D6F-FC74-DF9C-F25F44CA20D9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Sistema </a:t>
            </a:r>
            <a:r>
              <a:rPr lang="es-PE" dirty="0" err="1"/>
              <a:t>multiagente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D79D3F-FAC5-0577-49B8-983D3503D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77" b="33478"/>
          <a:stretch>
            <a:fillRect/>
          </a:stretch>
        </p:blipFill>
        <p:spPr>
          <a:xfrm>
            <a:off x="359999" y="1898374"/>
            <a:ext cx="10449000" cy="343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D047F-E382-B556-7917-8B8EA416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7970215A-75CC-7378-E624-8309C226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LLM vs Agente</a:t>
            </a:r>
          </a:p>
        </p:txBody>
      </p:sp>
      <p:sp>
        <p:nvSpPr>
          <p:cNvPr id="2" name="Título 19">
            <a:extLst>
              <a:ext uri="{FF2B5EF4-FFF2-40B4-BE49-F238E27FC236}">
                <a16:creationId xmlns:a16="http://schemas.microsoft.com/office/drawing/2014/main" id="{130604D4-6B3C-1457-5DED-B4737D1BCB0E}"/>
              </a:ext>
            </a:extLst>
          </p:cNvPr>
          <p:cNvSpPr txBox="1">
            <a:spLocks/>
          </p:cNvSpPr>
          <p:nvPr/>
        </p:nvSpPr>
        <p:spPr>
          <a:xfrm>
            <a:off x="359999" y="1281299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Cuando usar uno y no el otro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4C1A0C-74C2-4802-0572-9AC201898866}"/>
              </a:ext>
            </a:extLst>
          </p:cNvPr>
          <p:cNvSpPr txBox="1"/>
          <p:nvPr/>
        </p:nvSpPr>
        <p:spPr>
          <a:xfrm>
            <a:off x="359997" y="2417673"/>
            <a:ext cx="1132408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PE" dirty="0">
                <a:latin typeface="Inter Tight"/>
              </a:rPr>
              <a:t>- La tarea es simple y puntual (una sola interacción)</a:t>
            </a:r>
          </a:p>
          <a:p>
            <a:r>
              <a:rPr lang="es-PE" dirty="0">
                <a:latin typeface="Inter Tight"/>
              </a:rPr>
              <a:t>- Necesitas respuestas rápidas y de bajo costo</a:t>
            </a:r>
          </a:p>
          <a:p>
            <a:r>
              <a:rPr lang="es-PE" dirty="0">
                <a:latin typeface="Inter Tight"/>
              </a:rPr>
              <a:t>- Siempre hay validación humana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C7B02E-5BA8-C10D-B833-6F44C223C199}"/>
              </a:ext>
            </a:extLst>
          </p:cNvPr>
          <p:cNvSpPr txBox="1"/>
          <p:nvPr/>
        </p:nvSpPr>
        <p:spPr>
          <a:xfrm>
            <a:off x="359997" y="4052645"/>
            <a:ext cx="1132408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PE" dirty="0">
                <a:latin typeface="Inter Tight"/>
              </a:rPr>
              <a:t>- La tarea requiere múltiples pasos</a:t>
            </a:r>
          </a:p>
          <a:p>
            <a:r>
              <a:rPr lang="es-PE" dirty="0">
                <a:latin typeface="Inter Tight"/>
              </a:rPr>
              <a:t>- Se deben tomar decisiones dinámicas</a:t>
            </a:r>
          </a:p>
          <a:p>
            <a:r>
              <a:rPr lang="es-PE" dirty="0">
                <a:latin typeface="Inter Tight"/>
              </a:rPr>
              <a:t>- Hay interacción con sistemas externos (</a:t>
            </a:r>
            <a:r>
              <a:rPr lang="es-PE" dirty="0" err="1">
                <a:latin typeface="Inter Tight"/>
              </a:rPr>
              <a:t>APIs</a:t>
            </a:r>
            <a:r>
              <a:rPr lang="es-PE" dirty="0">
                <a:latin typeface="Inter Tight"/>
              </a:rPr>
              <a:t>, BD, correo, etc.)</a:t>
            </a:r>
          </a:p>
          <a:p>
            <a:r>
              <a:rPr lang="es-PE" dirty="0">
                <a:latin typeface="Inter Tight"/>
              </a:rPr>
              <a:t>- Se necesita </a:t>
            </a:r>
            <a:r>
              <a:rPr lang="es-PE" dirty="0" err="1">
                <a:latin typeface="Inter Tight"/>
              </a:rPr>
              <a:t>auto-validación</a:t>
            </a:r>
            <a:r>
              <a:rPr lang="es-PE" dirty="0">
                <a:latin typeface="Inter Tight"/>
              </a:rPr>
              <a:t> (razonamiento iterativo)</a:t>
            </a:r>
          </a:p>
        </p:txBody>
      </p:sp>
      <p:sp>
        <p:nvSpPr>
          <p:cNvPr id="5" name="Título 19">
            <a:extLst>
              <a:ext uri="{FF2B5EF4-FFF2-40B4-BE49-F238E27FC236}">
                <a16:creationId xmlns:a16="http://schemas.microsoft.com/office/drawing/2014/main" id="{1328DAA9-94F6-5A20-02C4-3F73309B6AC3}"/>
              </a:ext>
            </a:extLst>
          </p:cNvPr>
          <p:cNvSpPr txBox="1">
            <a:spLocks/>
          </p:cNvSpPr>
          <p:nvPr/>
        </p:nvSpPr>
        <p:spPr>
          <a:xfrm>
            <a:off x="359996" y="1849486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Usar un LLM si :</a:t>
            </a:r>
          </a:p>
        </p:txBody>
      </p:sp>
      <p:sp>
        <p:nvSpPr>
          <p:cNvPr id="6" name="Título 19">
            <a:extLst>
              <a:ext uri="{FF2B5EF4-FFF2-40B4-BE49-F238E27FC236}">
                <a16:creationId xmlns:a16="http://schemas.microsoft.com/office/drawing/2014/main" id="{4D359456-BBCF-09F7-A2C6-09E817692CF6}"/>
              </a:ext>
            </a:extLst>
          </p:cNvPr>
          <p:cNvSpPr txBox="1">
            <a:spLocks/>
          </p:cNvSpPr>
          <p:nvPr/>
        </p:nvSpPr>
        <p:spPr>
          <a:xfrm>
            <a:off x="359995" y="3484458"/>
            <a:ext cx="1132408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ln>
                  <a:noFill/>
                </a:ln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PE" dirty="0"/>
              <a:t>Usar un agente si :</a:t>
            </a:r>
          </a:p>
        </p:txBody>
      </p:sp>
    </p:spTree>
    <p:extLst>
      <p:ext uri="{BB962C8B-B14F-4D97-AF65-F5344CB8AC3E}">
        <p14:creationId xmlns:p14="http://schemas.microsoft.com/office/powerpoint/2010/main" val="246414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A076-A991-54A6-DF39-7EF6B4DA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68C1EF57-8F00-5866-23E5-09646ED4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LLM vs Agente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B73D7D-B127-1A1F-2A7D-BA3BE65AE3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02"/>
          <a:stretch>
            <a:fillRect/>
          </a:stretch>
        </p:blipFill>
        <p:spPr>
          <a:xfrm>
            <a:off x="360000" y="1093303"/>
            <a:ext cx="10287000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6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3697-1DA8-F6D3-7E2D-F6D660A8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AEE8D067-6375-BAE4-F306-56C7C9E4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Microsoft Agent Framework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0B6F58-59E9-8AAF-41C2-52E1EA99FBF4}"/>
              </a:ext>
            </a:extLst>
          </p:cNvPr>
          <p:cNvSpPr txBox="1"/>
          <p:nvPr/>
        </p:nvSpPr>
        <p:spPr>
          <a:xfrm>
            <a:off x="359999" y="1302834"/>
            <a:ext cx="11324085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PE" b="1" dirty="0">
                <a:solidFill>
                  <a:schemeClr val="accent1"/>
                </a:solidFill>
                <a:latin typeface="Inter Tight"/>
              </a:rPr>
              <a:t>¿Qué es?</a:t>
            </a:r>
          </a:p>
          <a:p>
            <a:r>
              <a:rPr lang="es-PE" dirty="0">
                <a:latin typeface="Inter Tight"/>
              </a:rPr>
              <a:t>Framework unificado para construir, desplegar y gestionar agentes inteligentes.</a:t>
            </a:r>
          </a:p>
          <a:p>
            <a:endParaRPr lang="es-PE" dirty="0">
              <a:latin typeface="Inter Tight"/>
            </a:endParaRPr>
          </a:p>
          <a:p>
            <a:r>
              <a:rPr lang="es-PE" b="1" dirty="0">
                <a:solidFill>
                  <a:schemeClr val="accent1"/>
                </a:solidFill>
                <a:latin typeface="Inter Tight"/>
              </a:rPr>
              <a:t>¿Por qué usarlo?</a:t>
            </a:r>
          </a:p>
          <a:p>
            <a:r>
              <a:rPr lang="es-PE" dirty="0">
                <a:latin typeface="Inter Tight"/>
              </a:rPr>
              <a:t>- Seguridad empresarial (ecosistema Microsoft)</a:t>
            </a:r>
          </a:p>
          <a:p>
            <a:r>
              <a:rPr lang="es-PE" dirty="0">
                <a:latin typeface="Inter Tight"/>
              </a:rPr>
              <a:t>- Flexibilidad (soporta múltiples modelos)</a:t>
            </a:r>
          </a:p>
          <a:p>
            <a:r>
              <a:rPr lang="es-PE" dirty="0">
                <a:latin typeface="Inter Tight"/>
              </a:rPr>
              <a:t>- Integración nativa con Azure</a:t>
            </a:r>
          </a:p>
          <a:p>
            <a:endParaRPr lang="es-PE" dirty="0">
              <a:latin typeface="Inter Tight"/>
            </a:endParaRPr>
          </a:p>
          <a:p>
            <a:r>
              <a:rPr lang="es-PE" b="1" dirty="0">
                <a:solidFill>
                  <a:schemeClr val="accent1"/>
                </a:solidFill>
                <a:latin typeface="Inter Tight"/>
              </a:rPr>
              <a:t>¿Dónde aplicarlo?</a:t>
            </a:r>
          </a:p>
          <a:p>
            <a:r>
              <a:rPr lang="es-PE" dirty="0">
                <a:latin typeface="Inter Tight"/>
              </a:rPr>
              <a:t>- Automatización de procesos</a:t>
            </a:r>
          </a:p>
          <a:p>
            <a:r>
              <a:rPr lang="es-PE" dirty="0">
                <a:latin typeface="Inter Tight"/>
              </a:rPr>
              <a:t>- Asistentes conversacionales</a:t>
            </a:r>
          </a:p>
          <a:p>
            <a:r>
              <a:rPr lang="es-PE" dirty="0">
                <a:latin typeface="Inter Tight"/>
              </a:rPr>
              <a:t>- Análisis y generación de reportes</a:t>
            </a:r>
          </a:p>
        </p:txBody>
      </p:sp>
    </p:spTree>
    <p:extLst>
      <p:ext uri="{BB962C8B-B14F-4D97-AF65-F5344CB8AC3E}">
        <p14:creationId xmlns:p14="http://schemas.microsoft.com/office/powerpoint/2010/main" val="207781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310B-76A0-2A66-DE90-FBDBFB7A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2AEF2073-56E8-3469-E664-F7915A8B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Conceptos básicos de Microsoft Agent Framework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BE1C09-8731-2AEB-8E2E-AA906BB89523}"/>
              </a:ext>
            </a:extLst>
          </p:cNvPr>
          <p:cNvSpPr txBox="1"/>
          <p:nvPr/>
        </p:nvSpPr>
        <p:spPr>
          <a:xfrm>
            <a:off x="359999" y="1286221"/>
            <a:ext cx="1132408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PE" b="1" dirty="0">
                <a:solidFill>
                  <a:schemeClr val="accent1"/>
                </a:solidFill>
                <a:latin typeface="Inter Tight"/>
              </a:rPr>
              <a:t>Sesión</a:t>
            </a:r>
          </a:p>
          <a:p>
            <a:r>
              <a:rPr lang="es-PE" dirty="0">
                <a:latin typeface="Inter Tight"/>
              </a:rPr>
              <a:t>Historial de conversación que permite mantener contexto.</a:t>
            </a:r>
          </a:p>
          <a:p>
            <a:endParaRPr lang="es-PE" dirty="0">
              <a:latin typeface="Inter Tight"/>
            </a:endParaRPr>
          </a:p>
          <a:p>
            <a:r>
              <a:rPr lang="es-PE" b="1" dirty="0">
                <a:solidFill>
                  <a:schemeClr val="accent1"/>
                </a:solidFill>
                <a:latin typeface="Inter Tight"/>
              </a:rPr>
              <a:t>Tools</a:t>
            </a:r>
          </a:p>
          <a:p>
            <a:r>
              <a:rPr lang="es-PE" dirty="0">
                <a:latin typeface="Inter Tight"/>
              </a:rPr>
              <a:t>Funciones externas que el agente puede ejecutar (</a:t>
            </a:r>
            <a:r>
              <a:rPr lang="es-PE" dirty="0" err="1">
                <a:latin typeface="Inter Tight"/>
              </a:rPr>
              <a:t>APIs</a:t>
            </a:r>
            <a:r>
              <a:rPr lang="es-PE" dirty="0">
                <a:latin typeface="Inter Tight"/>
              </a:rPr>
              <a:t>, lógica de negocio).</a:t>
            </a:r>
          </a:p>
          <a:p>
            <a:endParaRPr lang="es-PE" dirty="0">
              <a:latin typeface="Inter Tight"/>
            </a:endParaRPr>
          </a:p>
          <a:p>
            <a:r>
              <a:rPr lang="es-PE" dirty="0">
                <a:solidFill>
                  <a:schemeClr val="accent1"/>
                </a:solidFill>
                <a:latin typeface="Inter Tight"/>
              </a:rPr>
              <a:t>Memoria</a:t>
            </a:r>
          </a:p>
          <a:p>
            <a:r>
              <a:rPr lang="es-PE" dirty="0">
                <a:latin typeface="Inter Tight"/>
              </a:rPr>
              <a:t>Capacidad de almacenar información a largo plazo (preferencias, historial).</a:t>
            </a:r>
          </a:p>
        </p:txBody>
      </p:sp>
    </p:spTree>
    <p:extLst>
      <p:ext uri="{BB962C8B-B14F-4D97-AF65-F5344CB8AC3E}">
        <p14:creationId xmlns:p14="http://schemas.microsoft.com/office/powerpoint/2010/main" val="973835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1EC84-4943-4398-B088-AE4A04F4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Creando nuestro primer agente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7CFC7D-2F8A-6DFF-6EDF-EE8B9AC43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440000"/>
            <a:ext cx="11339999" cy="2396938"/>
          </a:xfrm>
        </p:spPr>
        <p:txBody>
          <a:bodyPr/>
          <a:lstStyle/>
          <a:p>
            <a:pPr algn="ctr"/>
            <a:r>
              <a:rPr lang="es-PE" sz="4800" dirty="0">
                <a:latin typeface="Inter Tight"/>
              </a:rPr>
              <a:t>Con estos conceptos, estamos listos para crear nuestro primer agente utilizando Microsoft Agent Framework.</a:t>
            </a:r>
          </a:p>
        </p:txBody>
      </p:sp>
    </p:spTree>
    <p:extLst>
      <p:ext uri="{BB962C8B-B14F-4D97-AF65-F5344CB8AC3E}">
        <p14:creationId xmlns:p14="http://schemas.microsoft.com/office/powerpoint/2010/main" val="1339196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D9-DFD5-DCE8-7883-8584893C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2B91795-0242-A37E-71CC-C29AF9872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" t="6533" r="4961" b="31431"/>
          <a:stretch>
            <a:fillRect/>
          </a:stretch>
        </p:blipFill>
        <p:spPr>
          <a:xfrm>
            <a:off x="1" y="4049"/>
            <a:ext cx="12192000" cy="685395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02E28EC-C6B1-B6DD-8EEB-5AAB7C02E339}"/>
              </a:ext>
            </a:extLst>
          </p:cNvPr>
          <p:cNvSpPr txBox="1"/>
          <p:nvPr/>
        </p:nvSpPr>
        <p:spPr>
          <a:xfrm>
            <a:off x="507877" y="861733"/>
            <a:ext cx="11133047" cy="1328046"/>
          </a:xfrm>
          <a:prstGeom prst="rect">
            <a:avLst/>
          </a:prstGeom>
          <a:noFill/>
        </p:spPr>
        <p:txBody>
          <a:bodyPr wrap="square" lIns="96001" tIns="48001" rIns="96001" bIns="48001" rtlCol="0" anchor="t">
            <a:spAutoFit/>
          </a:bodyPr>
          <a:lstStyle/>
          <a:p>
            <a:pPr algn="ctr"/>
            <a:r>
              <a:rPr lang="es-PE" sz="4000" b="1">
                <a:solidFill>
                  <a:schemeClr val="bg1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¡Ayúdanos a potenciar los</a:t>
            </a:r>
          </a:p>
          <a:p>
            <a:pPr algn="ctr"/>
            <a:r>
              <a:rPr lang="es-PE" sz="4000" b="1">
                <a:solidFill>
                  <a:srgbClr val="2AD2C9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MIÉRCOLES DE IA!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E6CE450-730F-8F35-451F-57A42CED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369" y="299946"/>
            <a:ext cx="2159555" cy="2612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991FFD1-B65B-7DDA-172C-E49671A8AB77}"/>
              </a:ext>
            </a:extLst>
          </p:cNvPr>
          <p:cNvSpPr txBox="1"/>
          <p:nvPr/>
        </p:nvSpPr>
        <p:spPr>
          <a:xfrm>
            <a:off x="185316" y="121555"/>
            <a:ext cx="6084807" cy="558604"/>
          </a:xfrm>
          <a:prstGeom prst="rect">
            <a:avLst/>
          </a:prstGeom>
          <a:noFill/>
        </p:spPr>
        <p:txBody>
          <a:bodyPr wrap="square" lIns="96001" tIns="48001" rIns="96001" bIns="48001" rtlCol="0" anchor="t">
            <a:spAutoFit/>
          </a:bodyPr>
          <a:lstStyle/>
          <a:p>
            <a:r>
              <a:rPr lang="es-PE" sz="3000" i="1">
                <a:solidFill>
                  <a:schemeClr val="bg1"/>
                </a:solidFill>
                <a:latin typeface="Inter Tight Light" panose="020B0604020202020204" charset="0"/>
                <a:ea typeface="Inter Tight Light" panose="020B0604020202020204" charset="0"/>
                <a:cs typeface="Inter Tight Light" panose="020B0604020202020204" charset="0"/>
              </a:rPr>
              <a:t>#ComunidadIA</a:t>
            </a:r>
            <a:endParaRPr lang="es-PE" sz="3000" i="1">
              <a:solidFill>
                <a:srgbClr val="2AD2C9"/>
              </a:solidFill>
              <a:latin typeface="Inter Tight Light" panose="020B0604020202020204" charset="0"/>
              <a:ea typeface="Inter Tight Light" panose="020B0604020202020204" charset="0"/>
              <a:cs typeface="Inter Tight Light" panose="020B060402020202020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2448408-1B7F-38EE-2DCE-A04F0EDCD3EB}"/>
              </a:ext>
            </a:extLst>
          </p:cNvPr>
          <p:cNvGrpSpPr/>
          <p:nvPr/>
        </p:nvGrpSpPr>
        <p:grpSpPr>
          <a:xfrm>
            <a:off x="7791227" y="2524765"/>
            <a:ext cx="3292900" cy="3471502"/>
            <a:chOff x="1900892" y="2688666"/>
            <a:chExt cx="3292900" cy="3471502"/>
          </a:xfrm>
        </p:grpSpPr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A10312E6-3D69-4014-6C50-496EE3934D9E}"/>
                </a:ext>
              </a:extLst>
            </p:cNvPr>
            <p:cNvGrpSpPr/>
            <p:nvPr/>
          </p:nvGrpSpPr>
          <p:grpSpPr>
            <a:xfrm>
              <a:off x="1900892" y="2688666"/>
              <a:ext cx="3292900" cy="3471502"/>
              <a:chOff x="2071170" y="4063226"/>
              <a:chExt cx="5292428" cy="5116302"/>
            </a:xfrm>
          </p:grpSpPr>
          <p:sp>
            <p:nvSpPr>
              <p:cNvPr id="16" name="Rectángulo: esquinas redondeadas 15">
                <a:extLst>
                  <a:ext uri="{FF2B5EF4-FFF2-40B4-BE49-F238E27FC236}">
                    <a16:creationId xmlns:a16="http://schemas.microsoft.com/office/drawing/2014/main" id="{5C2F9DD3-51AD-FEAC-3025-84E493484624}"/>
                  </a:ext>
                </a:extLst>
              </p:cNvPr>
              <p:cNvSpPr/>
              <p:nvPr/>
            </p:nvSpPr>
            <p:spPr>
              <a:xfrm>
                <a:off x="2071170" y="4063226"/>
                <a:ext cx="5292428" cy="5116302"/>
              </a:xfrm>
              <a:prstGeom prst="roundRect">
                <a:avLst/>
              </a:prstGeom>
              <a:noFill/>
              <a:ln w="19050">
                <a:solidFill>
                  <a:srgbClr val="E93CA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2279"/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B3B6EEA-8621-CF78-3C4C-0D2E64392175}"/>
                  </a:ext>
                </a:extLst>
              </p:cNvPr>
              <p:cNvSpPr txBox="1"/>
              <p:nvPr/>
            </p:nvSpPr>
            <p:spPr>
              <a:xfrm>
                <a:off x="2396135" y="4469932"/>
                <a:ext cx="4780376" cy="823271"/>
              </a:xfrm>
              <a:prstGeom prst="rect">
                <a:avLst/>
              </a:prstGeom>
              <a:noFill/>
            </p:spPr>
            <p:txBody>
              <a:bodyPr wrap="square" lIns="96001" tIns="48001" rIns="96001" bIns="48001" rtlCol="0" anchor="t">
                <a:spAutoFit/>
              </a:bodyPr>
              <a:lstStyle/>
              <a:p>
                <a:pPr algn="ctr"/>
                <a:r>
                  <a:rPr lang="es-PE" sz="3000" b="1">
                    <a:solidFill>
                      <a:schemeClr val="bg1"/>
                    </a:solidFill>
                    <a:latin typeface="Inter Tight"/>
                    <a:ea typeface="Inter Tight ExtraBold" pitchFamily="2" charset="0"/>
                    <a:cs typeface="Inter Tight ExtraBold" pitchFamily="2" charset="0"/>
                  </a:rPr>
                  <a:t>Escanea el QR</a:t>
                </a:r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5CF06862-7685-C996-034B-714C4A092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40" t="31930" r="21345" b="10176"/>
            <a:stretch>
              <a:fillRect/>
            </a:stretch>
          </p:blipFill>
          <p:spPr>
            <a:xfrm>
              <a:off x="2454587" y="3523227"/>
              <a:ext cx="2271297" cy="2334959"/>
            </a:xfrm>
            <a:prstGeom prst="rect">
              <a:avLst/>
            </a:prstGeom>
          </p:spPr>
        </p:pic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54B4DBC-49A6-EDAA-1FD0-4DAEF22A5DD8}"/>
              </a:ext>
            </a:extLst>
          </p:cNvPr>
          <p:cNvSpPr txBox="1"/>
          <p:nvPr/>
        </p:nvSpPr>
        <p:spPr>
          <a:xfrm>
            <a:off x="507877" y="3590142"/>
            <a:ext cx="4344103" cy="1574267"/>
          </a:xfrm>
          <a:prstGeom prst="rect">
            <a:avLst/>
          </a:prstGeom>
          <a:noFill/>
        </p:spPr>
        <p:txBody>
          <a:bodyPr wrap="square" lIns="96001" tIns="48001" rIns="96001" bIns="48001" rtlCol="0" anchor="t">
            <a:spAutoFit/>
          </a:bodyPr>
          <a:lstStyle/>
          <a:p>
            <a:pPr algn="r"/>
            <a:r>
              <a:rPr lang="es-PE" sz="3200" dirty="0">
                <a:solidFill>
                  <a:schemeClr val="bg1"/>
                </a:solidFill>
                <a:latin typeface="Inter Tight"/>
                <a:ea typeface="Inter Tight ExtraBold" pitchFamily="2" charset="0"/>
                <a:cs typeface="Inter Tight ExtraBold" pitchFamily="2" charset="0"/>
              </a:rPr>
              <a:t>Tu opinión es clave para seguir aprendiendo juntos.🚀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BD74991-9684-AF8A-0AEE-6CC89255AB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32" y="1907601"/>
            <a:ext cx="3292900" cy="4939351"/>
          </a:xfrm>
          <a:prstGeom prst="rect">
            <a:avLst/>
          </a:prstGeom>
        </p:spPr>
      </p:pic>
      <p:pic>
        <p:nvPicPr>
          <p:cNvPr id="19" name="Gráfico 23">
            <a:extLst>
              <a:ext uri="{FF2B5EF4-FFF2-40B4-BE49-F238E27FC236}">
                <a16:creationId xmlns:a16="http://schemas.microsoft.com/office/drawing/2014/main" id="{16487EFF-D783-BFE4-9F4A-3893872AE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0206" y="6298710"/>
            <a:ext cx="918471" cy="230832"/>
          </a:xfrm>
          <a:prstGeom prst="rect">
            <a:avLst/>
          </a:prstGeom>
        </p:spPr>
      </p:pic>
      <p:sp>
        <p:nvSpPr>
          <p:cNvPr id="20" name="TextBox 1">
            <a:extLst>
              <a:ext uri="{FF2B5EF4-FFF2-40B4-BE49-F238E27FC236}">
                <a16:creationId xmlns:a16="http://schemas.microsoft.com/office/drawing/2014/main" id="{2638304B-FB08-565C-0E01-3ACE5AC5156E}"/>
              </a:ext>
            </a:extLst>
          </p:cNvPr>
          <p:cNvSpPr txBox="1"/>
          <p:nvPr/>
        </p:nvSpPr>
        <p:spPr>
          <a:xfrm>
            <a:off x="-4242560" y="6293450"/>
            <a:ext cx="10936591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lvl="0" indent="0" algn="l" defTabSz="302392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179997" lvl="1" indent="-179997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9994" lvl="2" indent="-179997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991" lvl="3" indent="-179997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988" lvl="4" indent="-179997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30239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es-PE" sz="1500">
                <a:solidFill>
                  <a:srgbClr val="FFFFFF"/>
                </a:solidFill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PONLE</a:t>
            </a:r>
            <a:r>
              <a:rPr lang="es-PE" sz="1500">
                <a:solidFill>
                  <a:srgbClr val="FFFFFF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 IA  </a:t>
            </a:r>
            <a:r>
              <a:rPr lang="es-PE" sz="1500">
                <a:solidFill>
                  <a:srgbClr val="FFFFFF"/>
                </a:solidFill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A TU D</a:t>
            </a:r>
            <a:r>
              <a:rPr lang="es-PE" sz="1500">
                <a:solidFill>
                  <a:srgbClr val="FFFFFF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IA</a:t>
            </a:r>
            <a:endParaRPr lang="es-PE" sz="1500" b="1">
              <a:gradFill>
                <a:gsLst>
                  <a:gs pos="39000">
                    <a:srgbClr val="5DD3DC"/>
                  </a:gs>
                  <a:gs pos="58000">
                    <a:srgbClr val="DB3FAE"/>
                  </a:gs>
                </a:gsLst>
                <a:path path="circle">
                  <a:fillToRect t="100000" r="100000"/>
                </a:path>
              </a:gra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46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REDICORP">
      <a:dk1>
        <a:srgbClr val="555555"/>
      </a:dk1>
      <a:lt1>
        <a:srgbClr val="FAF7F3"/>
      </a:lt1>
      <a:dk2>
        <a:srgbClr val="000000"/>
      </a:dk2>
      <a:lt2>
        <a:srgbClr val="FFFFFF"/>
      </a:lt2>
      <a:accent1>
        <a:srgbClr val="C3338E"/>
      </a:accent1>
      <a:accent2>
        <a:srgbClr val="E32811"/>
      </a:accent2>
      <a:accent3>
        <a:srgbClr val="13AC7C"/>
      </a:accent3>
      <a:accent4>
        <a:srgbClr val="15B3E3"/>
      </a:accent4>
      <a:accent5>
        <a:srgbClr val="9C2A6F"/>
      </a:accent5>
      <a:accent6>
        <a:srgbClr val="00877C"/>
      </a:accent6>
      <a:hlink>
        <a:srgbClr val="F183CB"/>
      </a:hlink>
      <a:folHlink>
        <a:srgbClr val="2AD2C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9A1C01428AD1409B0E041CFFB576C1" ma:contentTypeVersion="13" ma:contentTypeDescription="Crear nuevo documento." ma:contentTypeScope="" ma:versionID="3ef865bccbe5ae32f03479596f2e7462">
  <xsd:schema xmlns:xsd="http://www.w3.org/2001/XMLSchema" xmlns:xs="http://www.w3.org/2001/XMLSchema" xmlns:p="http://schemas.microsoft.com/office/2006/metadata/properties" xmlns:ns2="04227675-1024-4514-b583-f48ba8acf208" xmlns:ns3="3fde01f0-98fc-4e2c-b7cc-2d6b13d5b0c1" targetNamespace="http://schemas.microsoft.com/office/2006/metadata/properties" ma:root="true" ma:fieldsID="47f08afb7a897a38357038ce9adfb986" ns2:_="" ns3:_="">
    <xsd:import namespace="04227675-1024-4514-b583-f48ba8acf208"/>
    <xsd:import namespace="3fde01f0-98fc-4e2c-b7cc-2d6b13d5b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27675-1024-4514-b583-f48ba8acf2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e01f0-98fc-4e2c-b7cc-2d6b13d5b0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584d8e-0507-4018-a6a0-a488412e16bc}" ma:internalName="TaxCatchAll" ma:showField="CatchAllData" ma:web="3fde01f0-98fc-4e2c-b7cc-2d6b13d5b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de01f0-98fc-4e2c-b7cc-2d6b13d5b0c1"/>
    <lcf76f155ced4ddcb4097134ff3c332f xmlns="04227675-1024-4514-b583-f48ba8acf20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2BBED8-9693-4406-A9EF-DED5E642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27675-1024-4514-b583-f48ba8acf208"/>
    <ds:schemaRef ds:uri="3fde01f0-98fc-4e2c-b7cc-2d6b13d5b0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753A4F-B056-4FF5-AA79-160B2C3F5E94}">
  <ds:schemaRefs>
    <ds:schemaRef ds:uri="http://www.w3.org/XML/1998/namespace"/>
    <ds:schemaRef ds:uri="http://purl.org/dc/elements/1.1/"/>
    <ds:schemaRef ds:uri="http://purl.org/dc/terms/"/>
    <ds:schemaRef ds:uri="3fde01f0-98fc-4e2c-b7cc-2d6b13d5b0c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4227675-1024-4514-b583-f48ba8acf20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B4099DC-0F68-4DEA-8962-FA19AAA430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</TotalTime>
  <Words>540</Words>
  <Application>Microsoft Office PowerPoint</Application>
  <PresentationFormat>Widescreen</PresentationFormat>
  <Paragraphs>121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de Office</vt:lpstr>
      <vt:lpstr>Python + Agents</vt:lpstr>
      <vt:lpstr>Agenda</vt:lpstr>
      <vt:lpstr>Conceptos Clave</vt:lpstr>
      <vt:lpstr>Conceptos Clave</vt:lpstr>
      <vt:lpstr>Conceptos Clave</vt:lpstr>
      <vt:lpstr>Conceptos Clave</vt:lpstr>
      <vt:lpstr>Conceptos Clave</vt:lpstr>
      <vt:lpstr>Conceptos Clave</vt:lpstr>
      <vt:lpstr>LLM vs Agente</vt:lpstr>
      <vt:lpstr>LLM vs Agente</vt:lpstr>
      <vt:lpstr>Microsoft Agent Framework</vt:lpstr>
      <vt:lpstr>Conceptos básicos de Microsoft Agent Framework</vt:lpstr>
      <vt:lpstr>Creando nuestro primer agente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Schmitt Vega</dc:creator>
  <cp:lastModifiedBy>Maria Jesus Esteban Ramirez</cp:lastModifiedBy>
  <cp:revision>19</cp:revision>
  <dcterms:created xsi:type="dcterms:W3CDTF">2024-09-09T20:07:07Z</dcterms:created>
  <dcterms:modified xsi:type="dcterms:W3CDTF">2026-08-17T01:51:48Z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2024-09-09T20:32:59Z</vt:lpwstr>
  </property>
  <property fmtid="{D5CDD505-2E9C-101B-9397-08002B2CF9AE}" pid="4" name="MSIP_Label_c15ead3b-a842-409e-8059-3e3468c48585_Method">
    <vt:lpwstr>Standard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ActionId">
    <vt:lpwstr>e52d7a4a-89d1-452d-98eb-b8a5623ab026</vt:lpwstr>
  </property>
  <property fmtid="{D5CDD505-2E9C-101B-9397-08002B2CF9AE}" pid="8" name="MSIP_Label_c15ead3b-a842-409e-8059-3e3468c48585_ContentBits">
    <vt:lpwstr>2</vt:lpwstr>
  </property>
  <property fmtid="{D5CDD505-2E9C-101B-9397-08002B2CF9AE}" pid="9" name="ClassificationContentMarkingFooterLocations">
    <vt:lpwstr>Tema de Office:9</vt:lpwstr>
  </property>
  <property fmtid="{D5CDD505-2E9C-101B-9397-08002B2CF9AE}" pid="10" name="ClassificationContentMarkingFooterText">
    <vt:lpwstr>Datos elaborados por BCP para uso Interno</vt:lpwstr>
  </property>
  <property fmtid="{D5CDD505-2E9C-101B-9397-08002B2CF9AE}" pid="11" name="ContentTypeId">
    <vt:lpwstr>0x010100E49A1C01428AD1409B0E041CFFB576C1</vt:lpwstr>
  </property>
  <property fmtid="{D5CDD505-2E9C-101B-9397-08002B2CF9AE}" pid="12" name="MediaServiceImageTags">
    <vt:lpwstr/>
  </property>
</Properties>
</file>