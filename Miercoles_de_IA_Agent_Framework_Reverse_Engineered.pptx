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9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0"/>
    <p:sldId id="265" r:id="rId9"/>
    <p:sldId id="266" r:id="rId8"/>
    <p:sldId id="267" r:id="rId7"/>
    <p:sldId id="268" r:id="rId6"/>
    <p:sldId id="26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1A0CB7-68DC-91B5-5772-320A2192D8DF}" name="Paul Schmitt Vega" initials="" userId="S::paulschmitt@bcp.com.pe::062c1f0f-d73f-41fd-bf6a-85906dcf0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95"/>
    <p:restoredTop sz="86386"/>
  </p:normalViewPr>
  <p:slideViewPr>
    <p:cSldViewPr snapToGrid="0">
      <p:cViewPr varScale="1">
        <p:scale>
          <a:sx n="54" d="100"/>
          <a:sy n="54" d="100"/>
        </p:scale>
        <p:origin x="1456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4104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F2EF7-5AEE-7648-9022-ED6E53D01B23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D005F-A431-3141-89A8-5152D3DB0E9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219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ATULA-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540000"/>
            <a:ext cx="9144000" cy="149579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_tradnl" noProof="0"/>
              <a:t>Título</a:t>
            </a:r>
            <a:br>
              <a:rPr lang="es-ES_tradnl" noProof="0"/>
            </a:br>
            <a:r>
              <a:rPr lang="es-ES_tradnl" noProof="0"/>
              <a:t>Principal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2035794"/>
            <a:ext cx="914400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noProof="0"/>
              <a:t>Subtítulo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8D139A-93C3-DDFF-F294-954A70520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9005" y="5094475"/>
            <a:ext cx="11413989" cy="136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ATULA-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9B085F-4A05-7F88-A8DD-2C0B44869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19725" y="2836079"/>
            <a:ext cx="8949464" cy="7478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_tradnl" noProof="0" dirty="0"/>
              <a:t>Título Principal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19725" y="3618742"/>
            <a:ext cx="8949464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noProof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8476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rgbClr val="FFB90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15625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ABD7A-A683-62B2-7828-A6CB69D292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0992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76F6-55AA-F898-15DD-D2812BD983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03067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BLANCO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1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BLANCO-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2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5679139" cy="9971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36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br>
              <a:rPr lang="es-MX" dirty="0"/>
            </a:br>
            <a:r>
              <a:rPr lang="es-MX" dirty="0"/>
              <a:t>Principal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2358963"/>
            <a:ext cx="567913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15829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BA3CCB-79E1-29D4-4D57-4D9A256D9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43099"/>
            <a:ext cx="1132408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B6DF01C-80D2-E3F6-AF08-74D8FCA6FF99}"/>
              </a:ext>
            </a:extLst>
          </p:cNvPr>
          <p:cNvCxnSpPr>
            <a:cxnSpLocks/>
          </p:cNvCxnSpPr>
          <p:nvPr userDrawn="1"/>
        </p:nvCxnSpPr>
        <p:spPr>
          <a:xfrm>
            <a:off x="359999" y="955505"/>
            <a:ext cx="11340000" cy="0"/>
          </a:xfrm>
          <a:prstGeom prst="line">
            <a:avLst/>
          </a:prstGeom>
          <a:ln>
            <a:solidFill>
              <a:srgbClr val="C3338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CC0656-6234-2908-F914-6274734817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440000"/>
            <a:ext cx="1133999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85397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C03765A-0B8D-AB7F-691F-1E54E1C249C5}"/>
              </a:ext>
            </a:extLst>
          </p:cNvPr>
          <p:cNvCxnSpPr>
            <a:cxnSpLocks/>
          </p:cNvCxnSpPr>
          <p:nvPr userDrawn="1"/>
        </p:nvCxnSpPr>
        <p:spPr>
          <a:xfrm>
            <a:off x="359999" y="955505"/>
            <a:ext cx="11340000" cy="0"/>
          </a:xfrm>
          <a:prstGeom prst="line">
            <a:avLst/>
          </a:prstGeom>
          <a:ln>
            <a:solidFill>
              <a:srgbClr val="C3338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D717897-C9D5-645D-1D06-2C87C8CFC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43099"/>
            <a:ext cx="1132408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A7A7C64-3356-D972-6C90-529606E2D9A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440000"/>
            <a:ext cx="1133999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1684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9673" y="1225047"/>
            <a:ext cx="7389221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9673" y="1757141"/>
            <a:ext cx="7389221" cy="385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677F8-3620-3EC4-0FA3-A3D2CF5BA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1080000"/>
            <a:ext cx="659673" cy="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17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720000"/>
            <a:ext cx="4788943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005A-008D-2D59-7E15-9FACAA929B8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20869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96633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720000"/>
            <a:ext cx="4788943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005A-008D-2D59-7E15-9FACAA929B8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20869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64298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9673" y="1225047"/>
            <a:ext cx="7389221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9673" y="1757141"/>
            <a:ext cx="7389221" cy="385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677F8-3620-3EC4-0FA3-A3D2CF5BA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1080000"/>
            <a:ext cx="659673" cy="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58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9219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45987FA-CDF8-DB93-C529-0E9E59F0C2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05413" y="6672580"/>
            <a:ext cx="1803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8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  <p:sp>
        <p:nvSpPr>
          <p:cNvPr id="20" name="Marcador de título 19">
            <a:extLst>
              <a:ext uri="{FF2B5EF4-FFF2-40B4-BE49-F238E27FC236}">
                <a16:creationId xmlns:a16="http://schemas.microsoft.com/office/drawing/2014/main" id="{924A4A65-4B56-E533-F2C1-C4756DAA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144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8561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0" r:id="rId2"/>
    <p:sldLayoutId id="2147483714" r:id="rId3"/>
    <p:sldLayoutId id="2147483715" r:id="rId4"/>
    <p:sldLayoutId id="2147483716" r:id="rId5"/>
    <p:sldLayoutId id="2147483698" r:id="rId6"/>
    <p:sldLayoutId id="2147483712" r:id="rId7"/>
    <p:sldLayoutId id="2147483711" r:id="rId8"/>
    <p:sldLayoutId id="2147483708" r:id="rId9"/>
    <p:sldLayoutId id="2147483713" r:id="rId10"/>
    <p:sldLayoutId id="2147483710" r:id="rId11"/>
    <p:sldLayoutId id="2147483717" r:id="rId12"/>
    <p:sldLayoutId id="2147483718" r:id="rId13"/>
    <p:sldLayoutId id="2147483719" r:id="rId14"/>
    <p:sldLayoutId id="214748372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ln>
            <a:noFill/>
          </a:ln>
          <a:solidFill>
            <a:schemeClr val="accent1"/>
          </a:solidFill>
          <a:latin typeface="Inter Tight" pitchFamily="2" charset="0"/>
          <a:ea typeface="Inter Tight" pitchFamily="2" charset="0"/>
          <a:cs typeface="Inter Tight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nter Tight Black"/>
              </a:rPr>
              <a:t>Python +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Inter Tight"/>
              </a:rPr>
              <a:t>Domina el Microsoft Agent Framework 1.0 desde cero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414431"/>
            <a:ext cx="10515600" cy="1325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3338E"/>
                </a:solidFill>
                <a:latin typeface="Inter Tight Black"/>
              </a:rPr>
              <a:t>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93348" y="2047937"/>
          <a:ext cx="9405305" cy="411766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463545"/>
                <a:gridCol w="6941760"/>
              </a:tblGrid>
              <a:tr h="823532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C3338E"/>
                          </a:solidFill>
                          <a:latin typeface="Inter Tight"/>
                        </a:rPr>
                        <a:t>01</a:t>
                      </a:r>
                    </a:p>
                  </a:txBody>
                  <a:tcPr marL="141446" marR="141446" marT="141446" marB="141446">
                    <a:noFill/>
                    <a:lnL w="12700">
                      <a:noFill/>
                    </a:lnL>
                    <a:lnR w="12700">
                      <a:noFill/>
                    </a:lnR>
                    <a:lnT w="6350">
                      <a:noFill/>
                    </a:lnT>
                    <a:lnB w="635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333333"/>
                          </a:solidFill>
                          <a:latin typeface="Inter Tight"/>
                        </a:rPr>
                        <a:t>Fundamentos de IA</a:t>
                      </a:r>
                    </a:p>
                  </a:txBody>
                  <a:tcPr marL="141446" marR="141446" marT="141446" marB="141446">
                    <a:noFill/>
                    <a:lnL w="12700">
                      <a:noFill/>
                    </a:lnL>
                    <a:lnR w="12700">
                      <a:noFill/>
                    </a:lnR>
                    <a:lnT w="6350">
                      <a:noFill/>
                    </a:lnT>
                    <a:lnB w="6350">
                      <a:solidFill>
                        <a:schemeClr val="tx1"/>
                      </a:solidFill>
                    </a:lnB>
                  </a:tcPr>
                </a:tc>
              </a:tr>
              <a:tr h="823532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C3338E"/>
                          </a:solidFill>
                          <a:latin typeface="Inter Tight"/>
                        </a:rPr>
                        <a:t>02</a:t>
                      </a:r>
                    </a:p>
                  </a:txBody>
                  <a:tcPr marL="141446" marR="141446" marT="141446" marB="141446">
                    <a:noFill/>
                    <a:lnL w="12700">
                      <a:noFill/>
                    </a:lnL>
                    <a:lnR w="1270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333333"/>
                          </a:solidFill>
                          <a:latin typeface="Inter Tight"/>
                        </a:rPr>
                        <a:t>Diferencias entre LLM y Agentes</a:t>
                      </a:r>
                    </a:p>
                  </a:txBody>
                  <a:tcPr marL="141446" marR="141446" marT="141446" marB="141446">
                    <a:noFill/>
                    <a:lnL w="12700">
                      <a:noFill/>
                    </a:lnL>
                    <a:lnR w="1270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</a:tcPr>
                </a:tc>
              </a:tr>
              <a:tr h="823532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C3338E"/>
                          </a:solidFill>
                          <a:latin typeface="Inter Tight"/>
                        </a:rPr>
                        <a:t>03</a:t>
                      </a:r>
                    </a:p>
                  </a:txBody>
                  <a:tcPr marL="141446" marR="141446" marT="141446" marB="141446">
                    <a:noFill/>
                    <a:lnL w="12700">
                      <a:noFill/>
                    </a:lnL>
                    <a:lnR w="1270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333333"/>
                          </a:solidFill>
                          <a:latin typeface="Inter Tight"/>
                        </a:rPr>
                        <a:t>Introducción a Microsoft Agent Framework</a:t>
                      </a:r>
                    </a:p>
                  </a:txBody>
                  <a:tcPr marL="141446" marR="141446" marT="141446" marB="141446">
                    <a:noFill/>
                    <a:lnL w="12700">
                      <a:noFill/>
                    </a:lnL>
                    <a:lnR w="1270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</a:tcPr>
                </a:tc>
              </a:tr>
              <a:tr h="823532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C3338E"/>
                          </a:solidFill>
                          <a:latin typeface="Inter Tight"/>
                        </a:rPr>
                        <a:t>04</a:t>
                      </a:r>
                    </a:p>
                  </a:txBody>
                  <a:tcPr marL="141446" marR="141446" marT="141446" marB="141446">
                    <a:noFill/>
                    <a:lnL w="12700">
                      <a:noFill/>
                    </a:lnL>
                    <a:lnR w="1270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333333"/>
                          </a:solidFill>
                          <a:latin typeface="Inter Tight"/>
                        </a:rPr>
                        <a:t>Componentes clave de MAF</a:t>
                      </a:r>
                    </a:p>
                  </a:txBody>
                  <a:tcPr marL="141446" marR="141446" marT="141446" marB="141446">
                    <a:noFill/>
                    <a:lnL w="12700">
                      <a:noFill/>
                    </a:lnL>
                    <a:lnR w="1270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</a:tcPr>
                </a:tc>
              </a:tr>
              <a:tr h="823532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C3338E"/>
                          </a:solidFill>
                          <a:latin typeface="Inter Tight"/>
                        </a:rPr>
                        <a:t>05</a:t>
                      </a:r>
                    </a:p>
                  </a:txBody>
                  <a:tcPr marL="141446" marR="141446" marT="141446" marB="141446">
                    <a:noFill/>
                    <a:lnL w="12700">
                      <a:noFill/>
                    </a:lnL>
                    <a:lnR w="1270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333333"/>
                          </a:solidFill>
                          <a:latin typeface="Inter Tight"/>
                        </a:rPr>
                        <a:t>Demo: Construcción de un agente</a:t>
                      </a:r>
                    </a:p>
                  </a:txBody>
                  <a:tcPr marL="141446" marR="141446" marT="141446" marB="141446">
                    <a:noFill/>
                    <a:lnL w="12700">
                      <a:noFill/>
                    </a:lnL>
                    <a:lnR w="12700">
                      <a:noFill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Conceptos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3338E"/>
                </a:solidFill>
                <a:latin typeface="Inter Tight Black"/>
              </a:rPr>
              <a:t>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9" y="1870200"/>
            <a:ext cx="5199973" cy="279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Es el componente central de un sistema de IA.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Ha sido entrenado con datos para identificar patrones y generar resultados.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¿Para qué sirve?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Convierte una entrada (texto, imagen o datos) en una salida útil basada en su entrenamiento.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Ejemplo: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Generar una imagen modificada (por ejemplo, agregar un objeto a una foto).</a:t>
            </a:r>
          </a:p>
        </p:txBody>
      </p:sp>
      <p:pic>
        <p:nvPicPr>
          <p:cNvPr id="5" name="Picture 4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346" y="1613698"/>
            <a:ext cx="5863738" cy="31471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Conceptos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3338E"/>
                </a:solidFill>
                <a:latin typeface="Inter Tight Black"/>
              </a:rPr>
              <a:t>LLM (Large Language Model / Modelo de Lenguaje Grande)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870200"/>
            <a:ext cx="5736000" cy="362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Modelo especializado en lenguaje natural, entrenado con grandes volúmenes de texto.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¿Para qué sirve?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Comprender, generar y transformar lenguaje humano.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Casos de uso: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Redacción de textos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Traducción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Resumen de información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Chat conversacional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Ejemplo: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Generar un correo formal automáticamente.</a:t>
            </a:r>
          </a:p>
        </p:txBody>
      </p:sp>
      <p:pic>
        <p:nvPicPr>
          <p:cNvPr id="5" name="Picture 4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041" y="1940838"/>
            <a:ext cx="5784809" cy="3502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Conceptos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3338E"/>
                </a:solidFill>
                <a:latin typeface="Inter Tight Black"/>
              </a:rPr>
              <a:t>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870200"/>
            <a:ext cx="10980548" cy="307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Sistema que utiliza un LLM como “cerebro” y puede tomar decisiones para cumplir un objetivo.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Características clave: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Autonomía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Uso de herramientas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Ejecución de acciones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¿Para qué sirve?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Automatizar procesos completos sin intervención constante.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Ejemplo: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Gestionar automáticamente la planificación de vacaciones.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Conceptos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3338E"/>
                </a:solidFill>
                <a:latin typeface="Inter Tight Black"/>
              </a:rPr>
              <a:t>Agente</a:t>
            </a:r>
          </a:p>
        </p:txBody>
      </p:sp>
      <p:pic>
        <p:nvPicPr>
          <p:cNvPr id="4" name="Picture 3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1723028"/>
            <a:ext cx="10449000" cy="4543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Conceptos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3338E"/>
                </a:solidFill>
                <a:latin typeface="Inter Tight Black"/>
              </a:rPr>
              <a:t>Sistema multiagente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9" y="1870200"/>
            <a:ext cx="11324085" cy="2243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Conjunto de agentes especializados que colaboran para resolver problemas complejos.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¿Para qué sirve?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Dividir un problema en tareas más pequeñas y coordinadas.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Ejemplo: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Agente 1 (Atención): interactúa con el cliente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Agente 2 (Riesgo): analiza historial crediticio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Agente 3 (Decisión): aprueba o rechaza el crédito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Conceptos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3338E"/>
                </a:solidFill>
                <a:latin typeface="Inter Tight Black"/>
              </a:rPr>
              <a:t>Sistema multiagente</a:t>
            </a:r>
          </a:p>
        </p:txBody>
      </p:sp>
      <p:pic>
        <p:nvPicPr>
          <p:cNvPr id="4" name="Picture 3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1898374"/>
            <a:ext cx="10449000" cy="34389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LLM vs Agente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3338E"/>
                </a:solidFill>
                <a:latin typeface="Inter Tight Black"/>
              </a:rPr>
              <a:t>Cuando usar uno y no el otro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6" y="1849486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3338E"/>
                </a:solidFill>
                <a:latin typeface="Inter Tight"/>
              </a:rPr>
              <a:t>Usar un LLM si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7" y="2417673"/>
            <a:ext cx="113240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>
                <a:solidFill>
                  <a:srgbClr val="333333"/>
                </a:solidFill>
                <a:latin typeface="Inter Tight"/>
              </a:rPr>
              <a:t>- La tarea es simple y puntual (una sola interacción)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>
                <a:solidFill>
                  <a:srgbClr val="333333"/>
                </a:solidFill>
                <a:latin typeface="Inter Tight"/>
              </a:rPr>
              <a:t>- Necesitas respuestas rápidas y de bajo costo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>
                <a:solidFill>
                  <a:srgbClr val="333333"/>
                </a:solidFill>
                <a:latin typeface="Inter Tight"/>
              </a:rPr>
              <a:t>- Siempre hay validación humana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995" y="3484458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3338E"/>
                </a:solidFill>
                <a:latin typeface="Inter Tight"/>
              </a:rPr>
              <a:t>Usar un agente si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997" y="4052645"/>
            <a:ext cx="1132408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>
                <a:solidFill>
                  <a:srgbClr val="333333"/>
                </a:solidFill>
                <a:latin typeface="Inter Tight"/>
              </a:rPr>
              <a:t>- La tarea requiere múltiples pasos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>
                <a:solidFill>
                  <a:srgbClr val="333333"/>
                </a:solidFill>
                <a:latin typeface="Inter Tight"/>
              </a:rPr>
              <a:t>- Se deben tomar decisiones dinámicas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>
                <a:solidFill>
                  <a:srgbClr val="333333"/>
                </a:solidFill>
                <a:latin typeface="Inter Tight"/>
              </a:rPr>
              <a:t>- Hay interacción con sistemas externos (APIs, BD, correo, etc.)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800">
                <a:solidFill>
                  <a:srgbClr val="333333"/>
                </a:solidFill>
                <a:latin typeface="Inter Tight"/>
              </a:rPr>
              <a:t>- Se necesita auto-validación (razonamiento iterativo)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LLM vs Agente</a:t>
            </a:r>
          </a:p>
        </p:txBody>
      </p:sp>
      <p:pic>
        <p:nvPicPr>
          <p:cNvPr id="3" name="Picture 2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93303"/>
            <a:ext cx="10287000" cy="56851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Microsoft Agent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302834"/>
            <a:ext cx="1132408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¿Qué es?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Framework unificado para construir, desplegar y gestionar agentes inteligentes.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¿Por qué usarlo?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Seguridad empresarial (ecosistema Microsoft)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Flexibilidad (soporta múltiples modelos)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Integración nativa con Azure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¿Dónde aplicarlo?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Automatización de procesos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Asistentes conversacionales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- Análisis y generación de reportes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Conceptos básicos de Microsoft Agent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6221"/>
            <a:ext cx="1132408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Sesión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Historial de conversación que permite mantener contexto.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Tools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Funciones externas que el agente puede ejecutar (APIs, lógica de negocio).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3338E"/>
                </a:solidFill>
                <a:latin typeface="Inter Tight"/>
              </a:rPr>
              <a:t>Memoria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Inter Tight"/>
              </a:rPr>
              <a:t>Capacidad de almacenar información a largo plazo (preferencias, historial).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Creando nuestro primer agente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algn="ctr"/>
            <a:r>
              <a:rPr sz="4800">
                <a:solidFill>
                  <a:srgbClr val="333333"/>
                </a:solidFill>
                <a:latin typeface="Inter Tight"/>
              </a:rPr>
              <a:t>Con estos conceptos, estamos listos para crear nuestro primer agente utilizando Microsoft Agent Framework.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049"/>
            <a:ext cx="12192000" cy="68539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5316" y="121555"/>
            <a:ext cx="6084807" cy="558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i="1">
                <a:solidFill>
                  <a:srgbClr val="FFFFFF"/>
                </a:solidFill>
                <a:latin typeface="Inter Tight Light"/>
              </a:rPr>
              <a:t>#ComunidadIA</a:t>
            </a:r>
          </a:p>
        </p:txBody>
      </p:sp>
      <p:pic>
        <p:nvPicPr>
          <p:cNvPr id="4" name="Picture 3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369" y="299946"/>
            <a:ext cx="2159555" cy="2612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877" y="861733"/>
            <a:ext cx="11133047" cy="13280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Inter Tight Black"/>
              </a:rPr>
              <a:t>¡Ayúdanos a potenciar los</a:t>
            </a:r>
          </a:p>
          <a:p>
            <a:pPr algn="ctr"/>
            <a:r>
              <a:rPr sz="4000" b="1">
                <a:solidFill>
                  <a:srgbClr val="2AD2C9"/>
                </a:solidFill>
                <a:latin typeface="Inter Tight Black"/>
              </a:rPr>
              <a:t>MIÉRCOLES DE IA!</a:t>
            </a:r>
          </a:p>
        </p:txBody>
      </p:sp>
      <p:pic>
        <p:nvPicPr>
          <p:cNvPr id="6" name="Picture 5" descr="image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432" y="1907601"/>
            <a:ext cx="3292900" cy="4939351"/>
          </a:xfrm>
          <a:prstGeom prst="rect">
            <a:avLst/>
          </a:prstGeom>
        </p:spPr>
      </p:pic>
      <p:pic>
        <p:nvPicPr>
          <p:cNvPr id="7" name="Picture 6" descr="imag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227" y="2524765"/>
            <a:ext cx="3292900" cy="3471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877" y="3590142"/>
            <a:ext cx="4344103" cy="1574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>
                <a:solidFill>
                  <a:srgbClr val="FFFFFF"/>
                </a:solidFill>
                <a:latin typeface="Inter Tight"/>
              </a:rPr>
              <a:t>Tu opinión es clave para seguir aprendiendo juntos.🚀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0206" y="6293450"/>
            <a:ext cx="1093659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Inter Tight Light"/>
              </a:rPr>
              <a:t>PONLE </a:t>
            </a:r>
            <a:r>
              <a:rPr sz="1500">
                <a:solidFill>
                  <a:srgbClr val="FFFFFF"/>
                </a:solidFill>
                <a:latin typeface="Inter Tight Black"/>
              </a:rPr>
              <a:t>IA </a:t>
            </a:r>
            <a:r>
              <a:rPr sz="1500">
                <a:solidFill>
                  <a:srgbClr val="FFFFFF"/>
                </a:solidFill>
                <a:latin typeface="Inter Tight Light"/>
              </a:rPr>
              <a:t>A TU D</a:t>
            </a:r>
            <a:r>
              <a:rPr sz="1500">
                <a:solidFill>
                  <a:srgbClr val="FFFFFF"/>
                </a:solidFill>
                <a:latin typeface="Inter Tight Black"/>
              </a:rPr>
              <a:t>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REDICORP">
      <a:dk1>
        <a:srgbClr val="555555"/>
      </a:dk1>
      <a:lt1>
        <a:srgbClr val="FAF7F3"/>
      </a:lt1>
      <a:dk2>
        <a:srgbClr val="000000"/>
      </a:dk2>
      <a:lt2>
        <a:srgbClr val="FFFFFF"/>
      </a:lt2>
      <a:accent1>
        <a:srgbClr val="C3338E"/>
      </a:accent1>
      <a:accent2>
        <a:srgbClr val="E32811"/>
      </a:accent2>
      <a:accent3>
        <a:srgbClr val="13AC7C"/>
      </a:accent3>
      <a:accent4>
        <a:srgbClr val="15B3E3"/>
      </a:accent4>
      <a:accent5>
        <a:srgbClr val="9C2A6F"/>
      </a:accent5>
      <a:accent6>
        <a:srgbClr val="00877C"/>
      </a:accent6>
      <a:hlink>
        <a:srgbClr val="F183CB"/>
      </a:hlink>
      <a:folHlink>
        <a:srgbClr val="2AD2C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9A1C01428AD1409B0E041CFFB576C1" ma:contentTypeVersion="13" ma:contentTypeDescription="Crear nuevo documento." ma:contentTypeScope="" ma:versionID="3ef865bccbe5ae32f03479596f2e7462">
  <xsd:schema xmlns:xsd="http://www.w3.org/2001/XMLSchema" xmlns:xs="http://www.w3.org/2001/XMLSchema" xmlns:p="http://schemas.microsoft.com/office/2006/metadata/properties" xmlns:ns2="04227675-1024-4514-b583-f48ba8acf208" xmlns:ns3="3fde01f0-98fc-4e2c-b7cc-2d6b13d5b0c1" targetNamespace="http://schemas.microsoft.com/office/2006/metadata/properties" ma:root="true" ma:fieldsID="47f08afb7a897a38357038ce9adfb986" ns2:_="" ns3:_="">
    <xsd:import namespace="04227675-1024-4514-b583-f48ba8acf208"/>
    <xsd:import namespace="3fde01f0-98fc-4e2c-b7cc-2d6b13d5b0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227675-1024-4514-b583-f48ba8acf2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99a4d325-e744-4b40-a3b6-bd808253b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e01f0-98fc-4e2c-b7cc-2d6b13d5b0c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9584d8e-0507-4018-a6a0-a488412e16bc}" ma:internalName="TaxCatchAll" ma:showField="CatchAllData" ma:web="3fde01f0-98fc-4e2c-b7cc-2d6b13d5b0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de01f0-98fc-4e2c-b7cc-2d6b13d5b0c1"/>
    <lcf76f155ced4ddcb4097134ff3c332f xmlns="04227675-1024-4514-b583-f48ba8acf20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2BBED8-9693-4406-A9EF-DED5E6422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227675-1024-4514-b583-f48ba8acf208"/>
    <ds:schemaRef ds:uri="3fde01f0-98fc-4e2c-b7cc-2d6b13d5b0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753A4F-B056-4FF5-AA79-160B2C3F5E94}">
  <ds:schemaRefs>
    <ds:schemaRef ds:uri="http://www.w3.org/XML/1998/namespace"/>
    <ds:schemaRef ds:uri="http://purl.org/dc/elements/1.1/"/>
    <ds:schemaRef ds:uri="http://purl.org/dc/terms/"/>
    <ds:schemaRef ds:uri="3fde01f0-98fc-4e2c-b7cc-2d6b13d5b0c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04227675-1024-4514-b583-f48ba8acf20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B4099DC-0F68-4DEA-8962-FA19AAA430E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1157</TotalTime>
  <Words>540</Words>
  <Application>Microsoft Office PowerPoint</Application>
  <PresentationFormat>Widescreen</PresentationFormat>
  <Paragraphs>121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Tema de Office</vt:lpstr>
      <vt:lpstr>Python + Agents</vt:lpstr>
      <vt:lpstr>Agenda</vt:lpstr>
      <vt:lpstr>Conceptos Clave</vt:lpstr>
      <vt:lpstr>Conceptos Clave</vt:lpstr>
      <vt:lpstr>Conceptos Clave</vt:lpstr>
      <vt:lpstr>Conceptos Clave</vt:lpstr>
      <vt:lpstr>Conceptos Clave</vt:lpstr>
      <vt:lpstr>Conceptos Clave</vt:lpstr>
      <vt:lpstr>LLM vs Agente</vt:lpstr>
      <vt:lpstr>LLM vs Agente</vt:lpstr>
      <vt:lpstr>Microsoft Agent Framework</vt:lpstr>
      <vt:lpstr>Conceptos básicos de Microsoft Agent Framework</vt:lpstr>
      <vt:lpstr>Creando nuestro primer agente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Schmitt Vega</dc:creator>
  <cp:lastModifiedBy>Maria Jesus Esteban Ramirez</cp:lastModifiedBy>
  <cp:revision>19</cp:revision>
  <dcterms:created xsi:type="dcterms:W3CDTF">2024-09-09T20:07:07Z</dcterms:created>
  <dcterms:modified xsi:type="dcterms:W3CDTF">2026-08-17T01:51:48Z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5ead3b-a842-409e-8059-3e3468c48585_Enabled">
    <vt:lpwstr>true</vt:lpwstr>
  </property>
  <property fmtid="{D5CDD505-2E9C-101B-9397-08002B2CF9AE}" pid="3" name="MSIP_Label_c15ead3b-a842-409e-8059-3e3468c48585_SetDate">
    <vt:lpwstr>2024-09-09T20:32:59Z</vt:lpwstr>
  </property>
  <property fmtid="{D5CDD505-2E9C-101B-9397-08002B2CF9AE}" pid="4" name="MSIP_Label_c15ead3b-a842-409e-8059-3e3468c48585_Method">
    <vt:lpwstr>Standard</vt:lpwstr>
  </property>
  <property fmtid="{D5CDD505-2E9C-101B-9397-08002B2CF9AE}" pid="5" name="MSIP_Label_c15ead3b-a842-409e-8059-3e3468c48585_Name">
    <vt:lpwstr>Interna BCP</vt:lpwstr>
  </property>
  <property fmtid="{D5CDD505-2E9C-101B-9397-08002B2CF9AE}" pid="6" name="MSIP_Label_c15ead3b-a842-409e-8059-3e3468c48585_SiteId">
    <vt:lpwstr>5d93ebcc-f769-4380-8b7e-289fc972da1b</vt:lpwstr>
  </property>
  <property fmtid="{D5CDD505-2E9C-101B-9397-08002B2CF9AE}" pid="7" name="MSIP_Label_c15ead3b-a842-409e-8059-3e3468c48585_ActionId">
    <vt:lpwstr>e52d7a4a-89d1-452d-98eb-b8a5623ab026</vt:lpwstr>
  </property>
  <property fmtid="{D5CDD505-2E9C-101B-9397-08002B2CF9AE}" pid="8" name="MSIP_Label_c15ead3b-a842-409e-8059-3e3468c48585_ContentBits">
    <vt:lpwstr>2</vt:lpwstr>
  </property>
  <property fmtid="{D5CDD505-2E9C-101B-9397-08002B2CF9AE}" pid="9" name="ClassificationContentMarkingFooterLocations">
    <vt:lpwstr>Tema de Office:9</vt:lpwstr>
  </property>
  <property fmtid="{D5CDD505-2E9C-101B-9397-08002B2CF9AE}" pid="10" name="ClassificationContentMarkingFooterText">
    <vt:lpwstr>Datos elaborados por BCP para uso Interno</vt:lpwstr>
  </property>
  <property fmtid="{D5CDD505-2E9C-101B-9397-08002B2CF9AE}" pid="11" name="ContentTypeId">
    <vt:lpwstr>0x010100E49A1C01428AD1409B0E041CFFB576C1</vt:lpwstr>
  </property>
  <property fmtid="{D5CDD505-2E9C-101B-9397-08002B2CF9AE}" pid="12" name="MediaServiceImageTags">
    <vt:lpwstr/>
  </property>
</Properties>
</file>